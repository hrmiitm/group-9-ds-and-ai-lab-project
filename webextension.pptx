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88952" cy="365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005840"/>
            <a:ext cx="1828800" cy="1097280"/>
          </a:xfrm>
          <a:prstGeom prst="rect">
            <a:avLst/>
          </a:prstGeom>
          <a:noFill/>
        </p:spPr>
        <p:txBody>
          <a:bodyPr wrap="square">
            <a:spAutoFit/>
          </a:bodyPr>
          <a:lstStyle/>
          <a:p>
            <a:pPr algn="ctr"/>
            <a:r>
              <a:rPr sz="7200" b="0" i="0">
                <a:solidFill>
                  <a:srgbClr val="FFFFFF"/>
                </a:solidFill>
              </a:rPr>
              <a:t>🛡️</a:t>
            </a:r>
          </a:p>
        </p:txBody>
      </p:sp>
      <p:sp>
        <p:nvSpPr>
          <p:cNvPr id="6" name="TextBox 5"/>
          <p:cNvSpPr txBox="1"/>
          <p:nvPr/>
        </p:nvSpPr>
        <p:spPr>
          <a:xfrm>
            <a:off x="914400" y="2103120"/>
            <a:ext cx="10332720" cy="1005840"/>
          </a:xfrm>
          <a:prstGeom prst="rect">
            <a:avLst/>
          </a:prstGeom>
          <a:noFill/>
        </p:spPr>
        <p:txBody>
          <a:bodyPr wrap="square">
            <a:spAutoFit/>
          </a:bodyPr>
          <a:lstStyle/>
          <a:p>
            <a:pPr algn="ctr"/>
            <a:r>
              <a:rPr sz="5400" b="1" i="0">
                <a:solidFill>
                  <a:srgbClr val="FFFFFF"/>
                </a:solidFill>
              </a:rPr>
              <a:t>FraudGuard</a:t>
            </a:r>
          </a:p>
        </p:txBody>
      </p:sp>
      <p:sp>
        <p:nvSpPr>
          <p:cNvPr id="7" name="TextBox 6"/>
          <p:cNvSpPr txBox="1"/>
          <p:nvPr/>
        </p:nvSpPr>
        <p:spPr>
          <a:xfrm>
            <a:off x="914400" y="3063240"/>
            <a:ext cx="10332720" cy="548640"/>
          </a:xfrm>
          <a:prstGeom prst="rect">
            <a:avLst/>
          </a:prstGeom>
          <a:noFill/>
        </p:spPr>
        <p:txBody>
          <a:bodyPr wrap="square">
            <a:spAutoFit/>
          </a:bodyPr>
          <a:lstStyle/>
          <a:p>
            <a:pPr algn="ctr"/>
            <a:r>
              <a:rPr sz="2200" b="0" i="0">
                <a:solidFill>
                  <a:srgbClr val="38BDF8"/>
                </a:solidFill>
              </a:rPr>
              <a:t>Chrome Extension — From v1 to v2</a:t>
            </a:r>
          </a:p>
        </p:txBody>
      </p:sp>
      <p:sp>
        <p:nvSpPr>
          <p:cNvPr id="8" name="TextBox 7"/>
          <p:cNvSpPr txBox="1"/>
          <p:nvPr/>
        </p:nvSpPr>
        <p:spPr>
          <a:xfrm>
            <a:off x="914400" y="3657600"/>
            <a:ext cx="10332720" cy="457200"/>
          </a:xfrm>
          <a:prstGeom prst="rect">
            <a:avLst/>
          </a:prstGeom>
          <a:noFill/>
        </p:spPr>
        <p:txBody>
          <a:bodyPr wrap="square">
            <a:spAutoFit/>
          </a:bodyPr>
          <a:lstStyle/>
          <a:p>
            <a:pPr algn="ctr"/>
            <a:r>
              <a:rPr sz="1500" b="0" i="0">
                <a:solidFill>
                  <a:srgbClr val="94A3B8"/>
                </a:solidFill>
              </a:rPr>
              <a:t>AI-Powered LinkedIn Job Fraud Detection  ·  Real-Time  ·  Multi-Signal</a:t>
            </a:r>
          </a:p>
        </p:txBody>
      </p:sp>
      <p:sp>
        <p:nvSpPr>
          <p:cNvPr id="9" name="Rectangle 8"/>
          <p:cNvSpPr/>
          <p:nvPr/>
        </p:nvSpPr>
        <p:spPr>
          <a:xfrm>
            <a:off x="0" y="6537960"/>
            <a:ext cx="12188952" cy="320040"/>
          </a:xfrm>
          <a:prstGeom prst="rect">
            <a:avLst/>
          </a:prstGeom>
          <a:solidFill>
            <a:srgbClr val="131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56248"/>
            <a:ext cx="11612880" cy="274320"/>
          </a:xfrm>
          <a:prstGeom prst="rect">
            <a:avLst/>
          </a:prstGeom>
          <a:noFill/>
        </p:spPr>
        <p:txBody>
          <a:bodyPr wrap="square">
            <a:spAutoFit/>
          </a:bodyPr>
          <a:lstStyle/>
          <a:p>
            <a:pPr algn="ctr"/>
            <a:r>
              <a:rPr sz="1200" b="0" i="0">
                <a:solidFill>
                  <a:srgbClr val="94A3B8"/>
                </a:solidFill>
              </a:rPr>
              <a:t>Group 9  ·  DS &amp; AI Lab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Agenda</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What this presentation covers</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258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99032"/>
            <a:ext cx="457200" cy="320040"/>
          </a:xfrm>
          <a:prstGeom prst="rect">
            <a:avLst/>
          </a:prstGeom>
          <a:noFill/>
        </p:spPr>
        <p:txBody>
          <a:bodyPr wrap="square">
            <a:spAutoFit/>
          </a:bodyPr>
          <a:lstStyle/>
          <a:p>
            <a:pPr algn="l"/>
            <a:r>
              <a:rPr sz="1300" b="1" i="0">
                <a:solidFill>
                  <a:srgbClr val="38BDF8"/>
                </a:solidFill>
              </a:rPr>
              <a:t>01</a:t>
            </a:r>
          </a:p>
        </p:txBody>
      </p:sp>
      <p:sp>
        <p:nvSpPr>
          <p:cNvPr id="9" name="TextBox 8"/>
          <p:cNvSpPr txBox="1"/>
          <p:nvPr/>
        </p:nvSpPr>
        <p:spPr>
          <a:xfrm>
            <a:off x="914400" y="1380744"/>
            <a:ext cx="4846320" cy="320040"/>
          </a:xfrm>
          <a:prstGeom prst="rect">
            <a:avLst/>
          </a:prstGeom>
          <a:noFill/>
        </p:spPr>
        <p:txBody>
          <a:bodyPr wrap="square">
            <a:spAutoFit/>
          </a:bodyPr>
          <a:lstStyle/>
          <a:p>
            <a:pPr algn="l"/>
            <a:r>
              <a:rPr sz="1400" b="1" i="0">
                <a:solidFill>
                  <a:srgbClr val="FFFFFF"/>
                </a:solidFill>
              </a:rPr>
              <a:t>The Problem</a:t>
            </a:r>
          </a:p>
        </p:txBody>
      </p:sp>
      <p:sp>
        <p:nvSpPr>
          <p:cNvPr id="10" name="TextBox 9"/>
          <p:cNvSpPr txBox="1"/>
          <p:nvPr/>
        </p:nvSpPr>
        <p:spPr>
          <a:xfrm>
            <a:off x="914400" y="1709928"/>
            <a:ext cx="4846320" cy="292608"/>
          </a:xfrm>
          <a:prstGeom prst="rect">
            <a:avLst/>
          </a:prstGeom>
          <a:noFill/>
        </p:spPr>
        <p:txBody>
          <a:bodyPr wrap="square">
            <a:spAutoFit/>
          </a:bodyPr>
          <a:lstStyle/>
          <a:p>
            <a:pPr algn="l"/>
            <a:r>
              <a:rPr sz="1100" b="0" i="0">
                <a:solidFill>
                  <a:srgbClr val="94A3B8"/>
                </a:solidFill>
              </a:rPr>
              <a:t>Why LinkedIn job fraud is dangerous</a:t>
            </a:r>
          </a:p>
        </p:txBody>
      </p:sp>
      <p:sp>
        <p:nvSpPr>
          <p:cNvPr id="11" name="Rectangle 10"/>
          <p:cNvSpPr/>
          <p:nvPr/>
        </p:nvSpPr>
        <p:spPr>
          <a:xfrm>
            <a:off x="411480" y="22402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13432"/>
            <a:ext cx="457200" cy="320040"/>
          </a:xfrm>
          <a:prstGeom prst="rect">
            <a:avLst/>
          </a:prstGeom>
          <a:noFill/>
        </p:spPr>
        <p:txBody>
          <a:bodyPr wrap="square">
            <a:spAutoFit/>
          </a:bodyPr>
          <a:lstStyle/>
          <a:p>
            <a:pPr algn="l"/>
            <a:r>
              <a:rPr sz="1300" b="1" i="0">
                <a:solidFill>
                  <a:srgbClr val="38BDF8"/>
                </a:solidFill>
              </a:rPr>
              <a:t>02</a:t>
            </a:r>
          </a:p>
        </p:txBody>
      </p:sp>
      <p:sp>
        <p:nvSpPr>
          <p:cNvPr id="13" name="TextBox 12"/>
          <p:cNvSpPr txBox="1"/>
          <p:nvPr/>
        </p:nvSpPr>
        <p:spPr>
          <a:xfrm>
            <a:off x="914400" y="2295144"/>
            <a:ext cx="4846320" cy="320040"/>
          </a:xfrm>
          <a:prstGeom prst="rect">
            <a:avLst/>
          </a:prstGeom>
          <a:noFill/>
        </p:spPr>
        <p:txBody>
          <a:bodyPr wrap="square">
            <a:spAutoFit/>
          </a:bodyPr>
          <a:lstStyle/>
          <a:p>
            <a:pPr algn="l"/>
            <a:r>
              <a:rPr sz="1400" b="1" i="0">
                <a:solidFill>
                  <a:srgbClr val="FFFFFF"/>
                </a:solidFill>
              </a:rPr>
              <a:t>Version 1 — Architecture</a:t>
            </a:r>
          </a:p>
        </p:txBody>
      </p:sp>
      <p:sp>
        <p:nvSpPr>
          <p:cNvPr id="14" name="TextBox 13"/>
          <p:cNvSpPr txBox="1"/>
          <p:nvPr/>
        </p:nvSpPr>
        <p:spPr>
          <a:xfrm>
            <a:off x="914400" y="2624328"/>
            <a:ext cx="4846320" cy="292608"/>
          </a:xfrm>
          <a:prstGeom prst="rect">
            <a:avLst/>
          </a:prstGeom>
          <a:noFill/>
        </p:spPr>
        <p:txBody>
          <a:bodyPr wrap="square">
            <a:spAutoFit/>
          </a:bodyPr>
          <a:lstStyle/>
          <a:p>
            <a:pPr algn="l"/>
            <a:r>
              <a:rPr sz="1100" b="0" i="0">
                <a:solidFill>
                  <a:srgbClr val="94A3B8"/>
                </a:solidFill>
              </a:rPr>
              <a:t>How the first extension worked</a:t>
            </a:r>
          </a:p>
        </p:txBody>
      </p:sp>
      <p:sp>
        <p:nvSpPr>
          <p:cNvPr id="15" name="Rectangle 14"/>
          <p:cNvSpPr/>
          <p:nvPr/>
        </p:nvSpPr>
        <p:spPr>
          <a:xfrm>
            <a:off x="411480" y="31546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3227832"/>
            <a:ext cx="457200" cy="320040"/>
          </a:xfrm>
          <a:prstGeom prst="rect">
            <a:avLst/>
          </a:prstGeom>
          <a:noFill/>
        </p:spPr>
        <p:txBody>
          <a:bodyPr wrap="square">
            <a:spAutoFit/>
          </a:bodyPr>
          <a:lstStyle/>
          <a:p>
            <a:pPr algn="l"/>
            <a:r>
              <a:rPr sz="1300" b="1" i="0">
                <a:solidFill>
                  <a:srgbClr val="38BDF8"/>
                </a:solidFill>
              </a:rPr>
              <a:t>03</a:t>
            </a:r>
          </a:p>
        </p:txBody>
      </p:sp>
      <p:sp>
        <p:nvSpPr>
          <p:cNvPr id="17" name="TextBox 16"/>
          <p:cNvSpPr txBox="1"/>
          <p:nvPr/>
        </p:nvSpPr>
        <p:spPr>
          <a:xfrm>
            <a:off x="914400" y="3209544"/>
            <a:ext cx="4846320" cy="320040"/>
          </a:xfrm>
          <a:prstGeom prst="rect">
            <a:avLst/>
          </a:prstGeom>
          <a:noFill/>
        </p:spPr>
        <p:txBody>
          <a:bodyPr wrap="square">
            <a:spAutoFit/>
          </a:bodyPr>
          <a:lstStyle/>
          <a:p>
            <a:pPr algn="l"/>
            <a:r>
              <a:rPr sz="1400" b="1" i="0">
                <a:solidFill>
                  <a:srgbClr val="FFFFFF"/>
                </a:solidFill>
              </a:rPr>
              <a:t>Version 1 — Data Flow</a:t>
            </a:r>
          </a:p>
        </p:txBody>
      </p:sp>
      <p:sp>
        <p:nvSpPr>
          <p:cNvPr id="18" name="TextBox 17"/>
          <p:cNvSpPr txBox="1"/>
          <p:nvPr/>
        </p:nvSpPr>
        <p:spPr>
          <a:xfrm>
            <a:off x="914400" y="3538728"/>
            <a:ext cx="4846320" cy="292608"/>
          </a:xfrm>
          <a:prstGeom prst="rect">
            <a:avLst/>
          </a:prstGeom>
          <a:noFill/>
        </p:spPr>
        <p:txBody>
          <a:bodyPr wrap="square">
            <a:spAutoFit/>
          </a:bodyPr>
          <a:lstStyle/>
          <a:p>
            <a:pPr algn="l"/>
            <a:r>
              <a:rPr sz="1100" b="0" i="0">
                <a:solidFill>
                  <a:srgbClr val="94A3B8"/>
                </a:solidFill>
              </a:rPr>
              <a:t>Step-by-step: scrape → ML → Gemini → result</a:t>
            </a:r>
          </a:p>
        </p:txBody>
      </p:sp>
      <p:sp>
        <p:nvSpPr>
          <p:cNvPr id="19" name="Rectangle 18"/>
          <p:cNvSpPr/>
          <p:nvPr/>
        </p:nvSpPr>
        <p:spPr>
          <a:xfrm>
            <a:off x="411480" y="40690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 y="4142232"/>
            <a:ext cx="457200" cy="320040"/>
          </a:xfrm>
          <a:prstGeom prst="rect">
            <a:avLst/>
          </a:prstGeom>
          <a:noFill/>
        </p:spPr>
        <p:txBody>
          <a:bodyPr wrap="square">
            <a:spAutoFit/>
          </a:bodyPr>
          <a:lstStyle/>
          <a:p>
            <a:pPr algn="l"/>
            <a:r>
              <a:rPr sz="1300" b="1" i="0">
                <a:solidFill>
                  <a:srgbClr val="38BDF8"/>
                </a:solidFill>
              </a:rPr>
              <a:t>04</a:t>
            </a:r>
          </a:p>
        </p:txBody>
      </p:sp>
      <p:sp>
        <p:nvSpPr>
          <p:cNvPr id="21" name="TextBox 20"/>
          <p:cNvSpPr txBox="1"/>
          <p:nvPr/>
        </p:nvSpPr>
        <p:spPr>
          <a:xfrm>
            <a:off x="914400" y="4123944"/>
            <a:ext cx="4846320" cy="320040"/>
          </a:xfrm>
          <a:prstGeom prst="rect">
            <a:avLst/>
          </a:prstGeom>
          <a:noFill/>
        </p:spPr>
        <p:txBody>
          <a:bodyPr wrap="square">
            <a:spAutoFit/>
          </a:bodyPr>
          <a:lstStyle/>
          <a:p>
            <a:pPr algn="l"/>
            <a:r>
              <a:rPr sz="1400" b="1" i="0">
                <a:solidFill>
                  <a:srgbClr val="FFFFFF"/>
                </a:solidFill>
              </a:rPr>
              <a:t>MCP Tools We Built (v1)</a:t>
            </a:r>
          </a:p>
        </p:txBody>
      </p:sp>
      <p:sp>
        <p:nvSpPr>
          <p:cNvPr id="22" name="TextBox 21"/>
          <p:cNvSpPr txBox="1"/>
          <p:nvPr/>
        </p:nvSpPr>
        <p:spPr>
          <a:xfrm>
            <a:off x="914400" y="4453128"/>
            <a:ext cx="4846320" cy="292608"/>
          </a:xfrm>
          <a:prstGeom prst="rect">
            <a:avLst/>
          </a:prstGeom>
          <a:noFill/>
        </p:spPr>
        <p:txBody>
          <a:bodyPr wrap="square">
            <a:spAutoFit/>
          </a:bodyPr>
          <a:lstStyle/>
          <a:p>
            <a:pPr algn="l"/>
            <a:r>
              <a:rPr sz="1100" b="0" i="0">
                <a:solidFill>
                  <a:srgbClr val="94A3B8"/>
                </a:solidFill>
              </a:rPr>
              <a:t>Custom tool framework: BaseTool, ToolRegistry, ToolResult</a:t>
            </a:r>
          </a:p>
        </p:txBody>
      </p:sp>
      <p:sp>
        <p:nvSpPr>
          <p:cNvPr id="23" name="Rectangle 22"/>
          <p:cNvSpPr/>
          <p:nvPr/>
        </p:nvSpPr>
        <p:spPr>
          <a:xfrm>
            <a:off x="411480" y="49834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 y="5056632"/>
            <a:ext cx="457200" cy="320040"/>
          </a:xfrm>
          <a:prstGeom prst="rect">
            <a:avLst/>
          </a:prstGeom>
          <a:noFill/>
        </p:spPr>
        <p:txBody>
          <a:bodyPr wrap="square">
            <a:spAutoFit/>
          </a:bodyPr>
          <a:lstStyle/>
          <a:p>
            <a:pPr algn="l"/>
            <a:r>
              <a:rPr sz="1300" b="1" i="0">
                <a:solidFill>
                  <a:srgbClr val="38BDF8"/>
                </a:solidFill>
              </a:rPr>
              <a:t>05</a:t>
            </a:r>
          </a:p>
        </p:txBody>
      </p:sp>
      <p:sp>
        <p:nvSpPr>
          <p:cNvPr id="25" name="TextBox 24"/>
          <p:cNvSpPr txBox="1"/>
          <p:nvPr/>
        </p:nvSpPr>
        <p:spPr>
          <a:xfrm>
            <a:off x="914400" y="5038344"/>
            <a:ext cx="4846320" cy="320040"/>
          </a:xfrm>
          <a:prstGeom prst="rect">
            <a:avLst/>
          </a:prstGeom>
          <a:noFill/>
        </p:spPr>
        <p:txBody>
          <a:bodyPr wrap="square">
            <a:spAutoFit/>
          </a:bodyPr>
          <a:lstStyle/>
          <a:p>
            <a:pPr algn="l"/>
            <a:r>
              <a:rPr sz="1400" b="1" i="0">
                <a:solidFill>
                  <a:srgbClr val="FFFFFF"/>
                </a:solidFill>
              </a:rPr>
              <a:t>Version 2 — Why Rebuild</a:t>
            </a:r>
          </a:p>
        </p:txBody>
      </p:sp>
      <p:sp>
        <p:nvSpPr>
          <p:cNvPr id="26" name="TextBox 25"/>
          <p:cNvSpPr txBox="1"/>
          <p:nvPr/>
        </p:nvSpPr>
        <p:spPr>
          <a:xfrm>
            <a:off x="914400" y="5367528"/>
            <a:ext cx="4846320" cy="292608"/>
          </a:xfrm>
          <a:prstGeom prst="rect">
            <a:avLst/>
          </a:prstGeom>
          <a:noFill/>
        </p:spPr>
        <p:txBody>
          <a:bodyPr wrap="square">
            <a:spAutoFit/>
          </a:bodyPr>
          <a:lstStyle/>
          <a:p>
            <a:pPr algn="l"/>
            <a:r>
              <a:rPr sz="1100" b="0" i="0">
                <a:solidFill>
                  <a:srgbClr val="94A3B8"/>
                </a:solidFill>
              </a:rPr>
              <a:t>Deploying backend + model for richer analysis</a:t>
            </a:r>
          </a:p>
        </p:txBody>
      </p:sp>
      <p:sp>
        <p:nvSpPr>
          <p:cNvPr id="27" name="Rectangle 26"/>
          <p:cNvSpPr/>
          <p:nvPr/>
        </p:nvSpPr>
        <p:spPr>
          <a:xfrm>
            <a:off x="6400800" y="13258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1399032"/>
            <a:ext cx="457200" cy="320040"/>
          </a:xfrm>
          <a:prstGeom prst="rect">
            <a:avLst/>
          </a:prstGeom>
          <a:noFill/>
        </p:spPr>
        <p:txBody>
          <a:bodyPr wrap="square">
            <a:spAutoFit/>
          </a:bodyPr>
          <a:lstStyle/>
          <a:p>
            <a:pPr algn="l"/>
            <a:r>
              <a:rPr sz="1300" b="1" i="0">
                <a:solidFill>
                  <a:srgbClr val="38BDF8"/>
                </a:solidFill>
              </a:rPr>
              <a:t>06</a:t>
            </a:r>
          </a:p>
        </p:txBody>
      </p:sp>
      <p:sp>
        <p:nvSpPr>
          <p:cNvPr id="29" name="TextBox 28"/>
          <p:cNvSpPr txBox="1"/>
          <p:nvPr/>
        </p:nvSpPr>
        <p:spPr>
          <a:xfrm>
            <a:off x="6903720" y="1380744"/>
            <a:ext cx="4846320" cy="320040"/>
          </a:xfrm>
          <a:prstGeom prst="rect">
            <a:avLst/>
          </a:prstGeom>
          <a:noFill/>
        </p:spPr>
        <p:txBody>
          <a:bodyPr wrap="square">
            <a:spAutoFit/>
          </a:bodyPr>
          <a:lstStyle/>
          <a:p>
            <a:pPr algn="l"/>
            <a:r>
              <a:rPr sz="1400" b="1" i="0">
                <a:solidFill>
                  <a:srgbClr val="FFFFFF"/>
                </a:solidFill>
              </a:rPr>
              <a:t>Version 2 — Architecture</a:t>
            </a:r>
          </a:p>
        </p:txBody>
      </p:sp>
      <p:sp>
        <p:nvSpPr>
          <p:cNvPr id="30" name="TextBox 29"/>
          <p:cNvSpPr txBox="1"/>
          <p:nvPr/>
        </p:nvSpPr>
        <p:spPr>
          <a:xfrm>
            <a:off x="6903720" y="1709928"/>
            <a:ext cx="4846320" cy="292608"/>
          </a:xfrm>
          <a:prstGeom prst="rect">
            <a:avLst/>
          </a:prstGeom>
          <a:noFill/>
        </p:spPr>
        <p:txBody>
          <a:bodyPr wrap="square">
            <a:spAutoFit/>
          </a:bodyPr>
          <a:lstStyle/>
          <a:p>
            <a:pPr algn="l"/>
            <a:r>
              <a:rPr sz="1100" b="0" i="0">
                <a:solidFill>
                  <a:srgbClr val="94A3B8"/>
                </a:solidFill>
              </a:rPr>
              <a:t>New flow: content script + deployed API</a:t>
            </a:r>
          </a:p>
        </p:txBody>
      </p:sp>
      <p:sp>
        <p:nvSpPr>
          <p:cNvPr id="31" name="Rectangle 30"/>
          <p:cNvSpPr/>
          <p:nvPr/>
        </p:nvSpPr>
        <p:spPr>
          <a:xfrm>
            <a:off x="6400800" y="22402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8" y="2313432"/>
            <a:ext cx="457200" cy="320040"/>
          </a:xfrm>
          <a:prstGeom prst="rect">
            <a:avLst/>
          </a:prstGeom>
          <a:noFill/>
        </p:spPr>
        <p:txBody>
          <a:bodyPr wrap="square">
            <a:spAutoFit/>
          </a:bodyPr>
          <a:lstStyle/>
          <a:p>
            <a:pPr algn="l"/>
            <a:r>
              <a:rPr sz="1300" b="1" i="0">
                <a:solidFill>
                  <a:srgbClr val="38BDF8"/>
                </a:solidFill>
              </a:rPr>
              <a:t>07</a:t>
            </a:r>
          </a:p>
        </p:txBody>
      </p:sp>
      <p:sp>
        <p:nvSpPr>
          <p:cNvPr id="33" name="TextBox 32"/>
          <p:cNvSpPr txBox="1"/>
          <p:nvPr/>
        </p:nvSpPr>
        <p:spPr>
          <a:xfrm>
            <a:off x="6903720" y="2295144"/>
            <a:ext cx="4846320" cy="320040"/>
          </a:xfrm>
          <a:prstGeom prst="rect">
            <a:avLst/>
          </a:prstGeom>
          <a:noFill/>
        </p:spPr>
        <p:txBody>
          <a:bodyPr wrap="square">
            <a:spAutoFit/>
          </a:bodyPr>
          <a:lstStyle/>
          <a:p>
            <a:pPr algn="l"/>
            <a:r>
              <a:rPr sz="1400" b="1" i="0">
                <a:solidFill>
                  <a:srgbClr val="FFFFFF"/>
                </a:solidFill>
              </a:rPr>
              <a:t>The 13 Investigation Tools</a:t>
            </a:r>
          </a:p>
        </p:txBody>
      </p:sp>
      <p:sp>
        <p:nvSpPr>
          <p:cNvPr id="34" name="TextBox 33"/>
          <p:cNvSpPr txBox="1"/>
          <p:nvPr/>
        </p:nvSpPr>
        <p:spPr>
          <a:xfrm>
            <a:off x="6903720" y="2624328"/>
            <a:ext cx="4846320" cy="292608"/>
          </a:xfrm>
          <a:prstGeom prst="rect">
            <a:avLst/>
          </a:prstGeom>
          <a:noFill/>
        </p:spPr>
        <p:txBody>
          <a:bodyPr wrap="square">
            <a:spAutoFit/>
          </a:bodyPr>
          <a:lstStyle/>
          <a:p>
            <a:pPr algn="l"/>
            <a:r>
              <a:rPr sz="1100" b="0" i="0">
                <a:solidFill>
                  <a:srgbClr val="94A3B8"/>
                </a:solidFill>
              </a:rPr>
              <a:t>Every tool, what it checks, and why</a:t>
            </a:r>
          </a:p>
        </p:txBody>
      </p:sp>
      <p:sp>
        <p:nvSpPr>
          <p:cNvPr id="35" name="Rectangle 34"/>
          <p:cNvSpPr/>
          <p:nvPr/>
        </p:nvSpPr>
        <p:spPr>
          <a:xfrm>
            <a:off x="6400800" y="31546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3227832"/>
            <a:ext cx="457200" cy="320040"/>
          </a:xfrm>
          <a:prstGeom prst="rect">
            <a:avLst/>
          </a:prstGeom>
          <a:noFill/>
        </p:spPr>
        <p:txBody>
          <a:bodyPr wrap="square">
            <a:spAutoFit/>
          </a:bodyPr>
          <a:lstStyle/>
          <a:p>
            <a:pPr algn="l"/>
            <a:r>
              <a:rPr sz="1300" b="1" i="0">
                <a:solidFill>
                  <a:srgbClr val="38BDF8"/>
                </a:solidFill>
              </a:rPr>
              <a:t>08</a:t>
            </a:r>
          </a:p>
        </p:txBody>
      </p:sp>
      <p:sp>
        <p:nvSpPr>
          <p:cNvPr id="37" name="TextBox 36"/>
          <p:cNvSpPr txBox="1"/>
          <p:nvPr/>
        </p:nvSpPr>
        <p:spPr>
          <a:xfrm>
            <a:off x="6903720" y="3209544"/>
            <a:ext cx="4846320" cy="320040"/>
          </a:xfrm>
          <a:prstGeom prst="rect">
            <a:avLst/>
          </a:prstGeom>
          <a:noFill/>
        </p:spPr>
        <p:txBody>
          <a:bodyPr wrap="square">
            <a:spAutoFit/>
          </a:bodyPr>
          <a:lstStyle/>
          <a:p>
            <a:pPr algn="l"/>
            <a:r>
              <a:rPr sz="1400" b="1" i="0">
                <a:solidFill>
                  <a:srgbClr val="FFFFFF"/>
                </a:solidFill>
              </a:rPr>
              <a:t>Verdict Engine</a:t>
            </a:r>
          </a:p>
        </p:txBody>
      </p:sp>
      <p:sp>
        <p:nvSpPr>
          <p:cNvPr id="38" name="TextBox 37"/>
          <p:cNvSpPr txBox="1"/>
          <p:nvPr/>
        </p:nvSpPr>
        <p:spPr>
          <a:xfrm>
            <a:off x="6903720" y="3538728"/>
            <a:ext cx="4846320" cy="292608"/>
          </a:xfrm>
          <a:prstGeom prst="rect">
            <a:avLst/>
          </a:prstGeom>
          <a:noFill/>
        </p:spPr>
        <p:txBody>
          <a:bodyPr wrap="square">
            <a:spAutoFit/>
          </a:bodyPr>
          <a:lstStyle/>
          <a:p>
            <a:pPr algn="l"/>
            <a:r>
              <a:rPr sz="1100" b="0" i="0">
                <a:solidFill>
                  <a:srgbClr val="94A3B8"/>
                </a:solidFill>
              </a:rPr>
              <a:t>Weighted scoring + LLM final summary</a:t>
            </a:r>
          </a:p>
        </p:txBody>
      </p:sp>
      <p:sp>
        <p:nvSpPr>
          <p:cNvPr id="39" name="Rectangle 38"/>
          <p:cNvSpPr/>
          <p:nvPr/>
        </p:nvSpPr>
        <p:spPr>
          <a:xfrm>
            <a:off x="6400800" y="4069080"/>
            <a:ext cx="5486400" cy="74980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10528" y="4142232"/>
            <a:ext cx="457200" cy="320040"/>
          </a:xfrm>
          <a:prstGeom prst="rect">
            <a:avLst/>
          </a:prstGeom>
          <a:noFill/>
        </p:spPr>
        <p:txBody>
          <a:bodyPr wrap="square">
            <a:spAutoFit/>
          </a:bodyPr>
          <a:lstStyle/>
          <a:p>
            <a:pPr algn="l"/>
            <a:r>
              <a:rPr sz="1300" b="1" i="0">
                <a:solidFill>
                  <a:srgbClr val="38BDF8"/>
                </a:solidFill>
              </a:rPr>
              <a:t>09</a:t>
            </a:r>
          </a:p>
        </p:txBody>
      </p:sp>
      <p:sp>
        <p:nvSpPr>
          <p:cNvPr id="41" name="TextBox 40"/>
          <p:cNvSpPr txBox="1"/>
          <p:nvPr/>
        </p:nvSpPr>
        <p:spPr>
          <a:xfrm>
            <a:off x="6903720" y="4123944"/>
            <a:ext cx="4846320" cy="320040"/>
          </a:xfrm>
          <a:prstGeom prst="rect">
            <a:avLst/>
          </a:prstGeom>
          <a:noFill/>
        </p:spPr>
        <p:txBody>
          <a:bodyPr wrap="square">
            <a:spAutoFit/>
          </a:bodyPr>
          <a:lstStyle/>
          <a:p>
            <a:pPr algn="l"/>
            <a:r>
              <a:rPr sz="1400" b="1" i="0">
                <a:solidFill>
                  <a:srgbClr val="FFFFFF"/>
                </a:solidFill>
              </a:rPr>
              <a:t>v1 vs v2 — Side by Side</a:t>
            </a:r>
          </a:p>
        </p:txBody>
      </p:sp>
      <p:sp>
        <p:nvSpPr>
          <p:cNvPr id="42" name="TextBox 41"/>
          <p:cNvSpPr txBox="1"/>
          <p:nvPr/>
        </p:nvSpPr>
        <p:spPr>
          <a:xfrm>
            <a:off x="6903720" y="4453128"/>
            <a:ext cx="4846320" cy="292608"/>
          </a:xfrm>
          <a:prstGeom prst="rect">
            <a:avLst/>
          </a:prstGeom>
          <a:noFill/>
        </p:spPr>
        <p:txBody>
          <a:bodyPr wrap="square">
            <a:spAutoFit/>
          </a:bodyPr>
          <a:lstStyle/>
          <a:p>
            <a:pPr algn="l"/>
            <a:r>
              <a:rPr sz="1100" b="0" i="0">
                <a:solidFill>
                  <a:srgbClr val="94A3B8"/>
                </a:solidFill>
              </a:rPr>
              <a:t>What changed and why it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The Problem</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LinkedIn job fraud is widespread, growing, and hard to detect manually</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280160"/>
            <a:ext cx="5394960" cy="51206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4937760" cy="411480"/>
          </a:xfrm>
          <a:prstGeom prst="rect">
            <a:avLst/>
          </a:prstGeom>
          <a:noFill/>
        </p:spPr>
        <p:txBody>
          <a:bodyPr wrap="square">
            <a:spAutoFit/>
          </a:bodyPr>
          <a:lstStyle/>
          <a:p>
            <a:pPr algn="l"/>
            <a:r>
              <a:rPr sz="1600" b="1" i="0">
                <a:solidFill>
                  <a:srgbClr val="38BDF8"/>
                </a:solidFill>
              </a:rPr>
              <a:t>Why This Matters</a:t>
            </a:r>
          </a:p>
        </p:txBody>
      </p:sp>
      <p:sp>
        <p:nvSpPr>
          <p:cNvPr id="9" name="Rectangle 8"/>
          <p:cNvSpPr/>
          <p:nvPr/>
        </p:nvSpPr>
        <p:spPr>
          <a:xfrm>
            <a:off x="640080" y="1965960"/>
            <a:ext cx="1280160" cy="685800"/>
          </a:xfrm>
          <a:prstGeom prst="rect">
            <a:avLst/>
          </a:prstGeom>
          <a:solidFill>
            <a:srgbClr val="0D111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39112"/>
            <a:ext cx="1280160" cy="384048"/>
          </a:xfrm>
          <a:prstGeom prst="rect">
            <a:avLst/>
          </a:prstGeom>
          <a:noFill/>
        </p:spPr>
        <p:txBody>
          <a:bodyPr wrap="square">
            <a:spAutoFit/>
          </a:bodyPr>
          <a:lstStyle/>
          <a:p>
            <a:pPr algn="ctr"/>
            <a:r>
              <a:rPr sz="2200" b="1" i="0">
                <a:solidFill>
                  <a:srgbClr val="F87171"/>
                </a:solidFill>
              </a:rPr>
              <a:t>$2B+</a:t>
            </a:r>
          </a:p>
        </p:txBody>
      </p:sp>
      <p:sp>
        <p:nvSpPr>
          <p:cNvPr id="11" name="TextBox 10"/>
          <p:cNvSpPr txBox="1"/>
          <p:nvPr/>
        </p:nvSpPr>
        <p:spPr>
          <a:xfrm>
            <a:off x="2057400" y="2130552"/>
            <a:ext cx="3566160" cy="365760"/>
          </a:xfrm>
          <a:prstGeom prst="rect">
            <a:avLst/>
          </a:prstGeom>
          <a:noFill/>
        </p:spPr>
        <p:txBody>
          <a:bodyPr wrap="square">
            <a:spAutoFit/>
          </a:bodyPr>
          <a:lstStyle/>
          <a:p>
            <a:pPr algn="l"/>
            <a:r>
              <a:rPr sz="1200" b="0" i="0">
                <a:solidFill>
                  <a:srgbClr val="94A3B8"/>
                </a:solidFill>
              </a:rPr>
              <a:t>lost to employment scams yearly (FTC)</a:t>
            </a:r>
          </a:p>
        </p:txBody>
      </p:sp>
      <p:sp>
        <p:nvSpPr>
          <p:cNvPr id="12" name="Rectangle 11"/>
          <p:cNvSpPr/>
          <p:nvPr/>
        </p:nvSpPr>
        <p:spPr>
          <a:xfrm>
            <a:off x="640080" y="2990088"/>
            <a:ext cx="1280160" cy="685800"/>
          </a:xfrm>
          <a:prstGeom prst="rect">
            <a:avLst/>
          </a:prstGeom>
          <a:solidFill>
            <a:srgbClr val="0D111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63240"/>
            <a:ext cx="1280160" cy="384048"/>
          </a:xfrm>
          <a:prstGeom prst="rect">
            <a:avLst/>
          </a:prstGeom>
          <a:noFill/>
        </p:spPr>
        <p:txBody>
          <a:bodyPr wrap="square">
            <a:spAutoFit/>
          </a:bodyPr>
          <a:lstStyle/>
          <a:p>
            <a:pPr algn="ctr"/>
            <a:r>
              <a:rPr sz="2200" b="1" i="0">
                <a:solidFill>
                  <a:srgbClr val="F87171"/>
                </a:solidFill>
              </a:rPr>
              <a:t>1 in 5</a:t>
            </a:r>
          </a:p>
        </p:txBody>
      </p:sp>
      <p:sp>
        <p:nvSpPr>
          <p:cNvPr id="14" name="TextBox 13"/>
          <p:cNvSpPr txBox="1"/>
          <p:nvPr/>
        </p:nvSpPr>
        <p:spPr>
          <a:xfrm>
            <a:off x="2057400" y="3154680"/>
            <a:ext cx="3566160" cy="365760"/>
          </a:xfrm>
          <a:prstGeom prst="rect">
            <a:avLst/>
          </a:prstGeom>
          <a:noFill/>
        </p:spPr>
        <p:txBody>
          <a:bodyPr wrap="square">
            <a:spAutoFit/>
          </a:bodyPr>
          <a:lstStyle/>
          <a:p>
            <a:pPr algn="l"/>
            <a:r>
              <a:rPr sz="1200" b="0" i="0">
                <a:solidFill>
                  <a:srgbClr val="94A3B8"/>
                </a:solidFill>
              </a:rPr>
              <a:t>LinkedIn users have seen a fake job post</a:t>
            </a:r>
          </a:p>
        </p:txBody>
      </p:sp>
      <p:sp>
        <p:nvSpPr>
          <p:cNvPr id="15" name="Rectangle 14"/>
          <p:cNvSpPr/>
          <p:nvPr/>
        </p:nvSpPr>
        <p:spPr>
          <a:xfrm>
            <a:off x="640080" y="4014216"/>
            <a:ext cx="1280160" cy="685800"/>
          </a:xfrm>
          <a:prstGeom prst="rect">
            <a:avLst/>
          </a:prstGeom>
          <a:solidFill>
            <a:srgbClr val="0D111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87368"/>
            <a:ext cx="1280160" cy="384048"/>
          </a:xfrm>
          <a:prstGeom prst="rect">
            <a:avLst/>
          </a:prstGeom>
          <a:noFill/>
        </p:spPr>
        <p:txBody>
          <a:bodyPr wrap="square">
            <a:spAutoFit/>
          </a:bodyPr>
          <a:lstStyle/>
          <a:p>
            <a:pPr algn="ctr"/>
            <a:r>
              <a:rPr sz="2200" b="1" i="0">
                <a:solidFill>
                  <a:srgbClr val="F87171"/>
                </a:solidFill>
              </a:rPr>
              <a:t>48hrs</a:t>
            </a:r>
          </a:p>
        </p:txBody>
      </p:sp>
      <p:sp>
        <p:nvSpPr>
          <p:cNvPr id="17" name="TextBox 16"/>
          <p:cNvSpPr txBox="1"/>
          <p:nvPr/>
        </p:nvSpPr>
        <p:spPr>
          <a:xfrm>
            <a:off x="2057400" y="4178808"/>
            <a:ext cx="3566160" cy="365760"/>
          </a:xfrm>
          <a:prstGeom prst="rect">
            <a:avLst/>
          </a:prstGeom>
          <a:noFill/>
        </p:spPr>
        <p:txBody>
          <a:bodyPr wrap="square">
            <a:spAutoFit/>
          </a:bodyPr>
          <a:lstStyle/>
          <a:p>
            <a:pPr algn="l"/>
            <a:r>
              <a:rPr sz="1200" b="0" i="0">
                <a:solidFill>
                  <a:srgbClr val="94A3B8"/>
                </a:solidFill>
              </a:rPr>
              <a:t>average time before a scam post is removed</a:t>
            </a:r>
          </a:p>
        </p:txBody>
      </p:sp>
      <p:sp>
        <p:nvSpPr>
          <p:cNvPr id="18" name="Rectangle 17"/>
          <p:cNvSpPr/>
          <p:nvPr/>
        </p:nvSpPr>
        <p:spPr>
          <a:xfrm>
            <a:off x="640080" y="5038344"/>
            <a:ext cx="1280160" cy="685800"/>
          </a:xfrm>
          <a:prstGeom prst="rect">
            <a:avLst/>
          </a:prstGeom>
          <a:solidFill>
            <a:srgbClr val="0D111A"/>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111496"/>
            <a:ext cx="1280160" cy="384048"/>
          </a:xfrm>
          <a:prstGeom prst="rect">
            <a:avLst/>
          </a:prstGeom>
          <a:noFill/>
        </p:spPr>
        <p:txBody>
          <a:bodyPr wrap="square">
            <a:spAutoFit/>
          </a:bodyPr>
          <a:lstStyle/>
          <a:p>
            <a:pPr algn="ctr"/>
            <a:r>
              <a:rPr sz="2200" b="1" i="0">
                <a:solidFill>
                  <a:srgbClr val="F87171"/>
                </a:solidFill>
              </a:rPr>
              <a:t>0</a:t>
            </a:r>
          </a:p>
        </p:txBody>
      </p:sp>
      <p:sp>
        <p:nvSpPr>
          <p:cNvPr id="20" name="TextBox 19"/>
          <p:cNvSpPr txBox="1"/>
          <p:nvPr/>
        </p:nvSpPr>
        <p:spPr>
          <a:xfrm>
            <a:off x="2057400" y="5202936"/>
            <a:ext cx="3566160" cy="365760"/>
          </a:xfrm>
          <a:prstGeom prst="rect">
            <a:avLst/>
          </a:prstGeom>
          <a:noFill/>
        </p:spPr>
        <p:txBody>
          <a:bodyPr wrap="square">
            <a:spAutoFit/>
          </a:bodyPr>
          <a:lstStyle/>
          <a:p>
            <a:pPr algn="l"/>
            <a:r>
              <a:rPr sz="1200" b="0" i="0">
                <a:solidFill>
                  <a:srgbClr val="94A3B8"/>
                </a:solidFill>
              </a:rPr>
              <a:t>native fraud warnings shown to users by LinkedIn</a:t>
            </a:r>
          </a:p>
        </p:txBody>
      </p:sp>
      <p:sp>
        <p:nvSpPr>
          <p:cNvPr id="21" name="Rectangle 20"/>
          <p:cNvSpPr/>
          <p:nvPr/>
        </p:nvSpPr>
        <p:spPr>
          <a:xfrm>
            <a:off x="6217920" y="1280160"/>
            <a:ext cx="5577840" cy="51206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1417320"/>
            <a:ext cx="5120640" cy="411480"/>
          </a:xfrm>
          <a:prstGeom prst="rect">
            <a:avLst/>
          </a:prstGeom>
          <a:noFill/>
        </p:spPr>
        <p:txBody>
          <a:bodyPr wrap="square">
            <a:spAutoFit/>
          </a:bodyPr>
          <a:lstStyle/>
          <a:p>
            <a:pPr algn="l"/>
            <a:r>
              <a:rPr sz="1600" b="1" i="0">
                <a:solidFill>
                  <a:srgbClr val="FBBF24"/>
                </a:solidFill>
              </a:rPr>
              <a:t>Common Fraud Patterns</a:t>
            </a:r>
          </a:p>
        </p:txBody>
      </p:sp>
      <p:sp>
        <p:nvSpPr>
          <p:cNvPr id="23" name="TextBox 22"/>
          <p:cNvSpPr txBox="1"/>
          <p:nvPr/>
        </p:nvSpPr>
        <p:spPr>
          <a:xfrm>
            <a:off x="6492240" y="1920240"/>
            <a:ext cx="5120640" cy="292608"/>
          </a:xfrm>
          <a:prstGeom prst="rect">
            <a:avLst/>
          </a:prstGeom>
          <a:noFill/>
        </p:spPr>
        <p:txBody>
          <a:bodyPr wrap="square">
            <a:spAutoFit/>
          </a:bodyPr>
          <a:lstStyle/>
          <a:p>
            <a:pPr algn="l"/>
            <a:r>
              <a:rPr sz="1300" b="1" i="0">
                <a:solidFill>
                  <a:srgbClr val="FFFFFF"/>
                </a:solidFill>
              </a:rPr>
              <a:t>💸  Advance-Fee Scams</a:t>
            </a:r>
          </a:p>
        </p:txBody>
      </p:sp>
      <p:sp>
        <p:nvSpPr>
          <p:cNvPr id="24" name="TextBox 23"/>
          <p:cNvSpPr txBox="1"/>
          <p:nvPr/>
        </p:nvSpPr>
        <p:spPr>
          <a:xfrm>
            <a:off x="6492240" y="2212848"/>
            <a:ext cx="5212080" cy="457200"/>
          </a:xfrm>
          <a:prstGeom prst="rect">
            <a:avLst/>
          </a:prstGeom>
          <a:noFill/>
        </p:spPr>
        <p:txBody>
          <a:bodyPr wrap="square">
            <a:spAutoFit/>
          </a:bodyPr>
          <a:lstStyle/>
          <a:p>
            <a:pPr algn="l"/>
            <a:r>
              <a:rPr sz="1100" b="0" i="0">
                <a:solidFill>
                  <a:srgbClr val="94A3B8"/>
                </a:solidFill>
              </a:rPr>
              <a:t>Ask you to pay for training kits, equipment, or background checks upfront</a:t>
            </a:r>
          </a:p>
        </p:txBody>
      </p:sp>
      <p:sp>
        <p:nvSpPr>
          <p:cNvPr id="25" name="TextBox 24"/>
          <p:cNvSpPr txBox="1"/>
          <p:nvPr/>
        </p:nvSpPr>
        <p:spPr>
          <a:xfrm>
            <a:off x="6492240" y="2816352"/>
            <a:ext cx="5120640" cy="292608"/>
          </a:xfrm>
          <a:prstGeom prst="rect">
            <a:avLst/>
          </a:prstGeom>
          <a:noFill/>
        </p:spPr>
        <p:txBody>
          <a:bodyPr wrap="square">
            <a:spAutoFit/>
          </a:bodyPr>
          <a:lstStyle/>
          <a:p>
            <a:pPr algn="l"/>
            <a:r>
              <a:rPr sz="1300" b="1" i="0">
                <a:solidFill>
                  <a:srgbClr val="FFFFFF"/>
                </a:solidFill>
              </a:rPr>
              <a:t>🎣  Phishing Attacks</a:t>
            </a:r>
          </a:p>
        </p:txBody>
      </p:sp>
      <p:sp>
        <p:nvSpPr>
          <p:cNvPr id="26" name="TextBox 25"/>
          <p:cNvSpPr txBox="1"/>
          <p:nvPr/>
        </p:nvSpPr>
        <p:spPr>
          <a:xfrm>
            <a:off x="6492240" y="3108960"/>
            <a:ext cx="5212080" cy="457200"/>
          </a:xfrm>
          <a:prstGeom prst="rect">
            <a:avLst/>
          </a:prstGeom>
          <a:noFill/>
        </p:spPr>
        <p:txBody>
          <a:bodyPr wrap="square">
            <a:spAutoFit/>
          </a:bodyPr>
          <a:lstStyle/>
          <a:p>
            <a:pPr algn="l"/>
            <a:r>
              <a:rPr sz="1100" b="0" i="0">
                <a:solidFill>
                  <a:srgbClr val="94A3B8"/>
                </a:solidFill>
              </a:rPr>
              <a:t>Lure you into submitting personal info via fake 'onboarding' portals</a:t>
            </a:r>
          </a:p>
        </p:txBody>
      </p:sp>
      <p:sp>
        <p:nvSpPr>
          <p:cNvPr id="27" name="TextBox 26"/>
          <p:cNvSpPr txBox="1"/>
          <p:nvPr/>
        </p:nvSpPr>
        <p:spPr>
          <a:xfrm>
            <a:off x="6492240" y="3712464"/>
            <a:ext cx="5120640" cy="292608"/>
          </a:xfrm>
          <a:prstGeom prst="rect">
            <a:avLst/>
          </a:prstGeom>
          <a:noFill/>
        </p:spPr>
        <p:txBody>
          <a:bodyPr wrap="square">
            <a:spAutoFit/>
          </a:bodyPr>
          <a:lstStyle/>
          <a:p>
            <a:pPr algn="l"/>
            <a:r>
              <a:rPr sz="1300" b="1" i="0">
                <a:solidFill>
                  <a:srgbClr val="FFFFFF"/>
                </a:solidFill>
              </a:rPr>
              <a:t>🏢  Ghost Companies</a:t>
            </a:r>
          </a:p>
        </p:txBody>
      </p:sp>
      <p:sp>
        <p:nvSpPr>
          <p:cNvPr id="28" name="TextBox 27"/>
          <p:cNvSpPr txBox="1"/>
          <p:nvPr/>
        </p:nvSpPr>
        <p:spPr>
          <a:xfrm>
            <a:off x="6492240" y="4005072"/>
            <a:ext cx="5212080" cy="457200"/>
          </a:xfrm>
          <a:prstGeom prst="rect">
            <a:avLst/>
          </a:prstGeom>
          <a:noFill/>
        </p:spPr>
        <p:txBody>
          <a:bodyPr wrap="square">
            <a:spAutoFit/>
          </a:bodyPr>
          <a:lstStyle/>
          <a:p>
            <a:pPr algn="l"/>
            <a:r>
              <a:rPr sz="1100" b="0" i="0">
                <a:solidFill>
                  <a:srgbClr val="94A3B8"/>
                </a:solidFill>
              </a:rPr>
              <a:t>Completely fabricated businesses with no online presence</a:t>
            </a:r>
          </a:p>
        </p:txBody>
      </p:sp>
      <p:sp>
        <p:nvSpPr>
          <p:cNvPr id="29" name="TextBox 28"/>
          <p:cNvSpPr txBox="1"/>
          <p:nvPr/>
        </p:nvSpPr>
        <p:spPr>
          <a:xfrm>
            <a:off x="6492240" y="4608576"/>
            <a:ext cx="5120640" cy="292608"/>
          </a:xfrm>
          <a:prstGeom prst="rect">
            <a:avLst/>
          </a:prstGeom>
          <a:noFill/>
        </p:spPr>
        <p:txBody>
          <a:bodyPr wrap="square">
            <a:spAutoFit/>
          </a:bodyPr>
          <a:lstStyle/>
          <a:p>
            <a:pPr algn="l"/>
            <a:r>
              <a:rPr sz="1300" b="1" i="0">
                <a:solidFill>
                  <a:srgbClr val="FFFFFF"/>
                </a:solidFill>
              </a:rPr>
              <a:t>💼  Identity Theft</a:t>
            </a:r>
          </a:p>
        </p:txBody>
      </p:sp>
      <p:sp>
        <p:nvSpPr>
          <p:cNvPr id="30" name="TextBox 29"/>
          <p:cNvSpPr txBox="1"/>
          <p:nvPr/>
        </p:nvSpPr>
        <p:spPr>
          <a:xfrm>
            <a:off x="6492240" y="4901184"/>
            <a:ext cx="5212080" cy="457200"/>
          </a:xfrm>
          <a:prstGeom prst="rect">
            <a:avLst/>
          </a:prstGeom>
          <a:noFill/>
        </p:spPr>
        <p:txBody>
          <a:bodyPr wrap="square">
            <a:spAutoFit/>
          </a:bodyPr>
          <a:lstStyle/>
          <a:p>
            <a:pPr algn="l"/>
            <a:r>
              <a:rPr sz="1100" b="0" i="0">
                <a:solidFill>
                  <a:srgbClr val="94A3B8"/>
                </a:solidFill>
              </a:rPr>
              <a:t>Request government ID, bank details, or SSN in the 'application'</a:t>
            </a:r>
          </a:p>
        </p:txBody>
      </p:sp>
      <p:sp>
        <p:nvSpPr>
          <p:cNvPr id="31" name="TextBox 30"/>
          <p:cNvSpPr txBox="1"/>
          <p:nvPr/>
        </p:nvSpPr>
        <p:spPr>
          <a:xfrm>
            <a:off x="6492240" y="5504688"/>
            <a:ext cx="5120640" cy="292608"/>
          </a:xfrm>
          <a:prstGeom prst="rect">
            <a:avLst/>
          </a:prstGeom>
          <a:noFill/>
        </p:spPr>
        <p:txBody>
          <a:bodyPr wrap="square">
            <a:spAutoFit/>
          </a:bodyPr>
          <a:lstStyle/>
          <a:p>
            <a:pPr algn="l"/>
            <a:r>
              <a:rPr sz="1300" b="1" i="0">
                <a:solidFill>
                  <a:srgbClr val="FFFFFF"/>
                </a:solidFill>
              </a:rPr>
              <a:t>📈  Unrealistic Offers</a:t>
            </a:r>
          </a:p>
        </p:txBody>
      </p:sp>
      <p:sp>
        <p:nvSpPr>
          <p:cNvPr id="32" name="TextBox 31"/>
          <p:cNvSpPr txBox="1"/>
          <p:nvPr/>
        </p:nvSpPr>
        <p:spPr>
          <a:xfrm>
            <a:off x="6492240" y="5797296"/>
            <a:ext cx="5212080" cy="457200"/>
          </a:xfrm>
          <a:prstGeom prst="rect">
            <a:avLst/>
          </a:prstGeom>
          <a:noFill/>
        </p:spPr>
        <p:txBody>
          <a:bodyPr wrap="square">
            <a:spAutoFit/>
          </a:bodyPr>
          <a:lstStyle/>
          <a:p>
            <a:pPr algn="l"/>
            <a:r>
              <a:rPr sz="1100" b="0" i="0">
                <a:solidFill>
                  <a:srgbClr val="94A3B8"/>
                </a:solidFill>
              </a:rPr>
              <a:t>"$150/hr, no experience needed, work from home, immediate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Version 1 — Architecture</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A self-contained browser extension using a LangChain-inspired tool pipeline</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V1</a:t>
            </a:r>
          </a:p>
        </p:txBody>
      </p:sp>
      <p:sp>
        <p:nvSpPr>
          <p:cNvPr id="9" name="Rectangle 8"/>
          <p:cNvSpPr/>
          <p:nvPr/>
        </p:nvSpPr>
        <p:spPr>
          <a:xfrm>
            <a:off x="365760" y="1645920"/>
            <a:ext cx="2103120" cy="10515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755648"/>
            <a:ext cx="2103120" cy="640080"/>
          </a:xfrm>
          <a:prstGeom prst="rect">
            <a:avLst/>
          </a:prstGeom>
          <a:noFill/>
        </p:spPr>
        <p:txBody>
          <a:bodyPr wrap="square">
            <a:spAutoFit/>
          </a:bodyPr>
          <a:lstStyle/>
          <a:p>
            <a:pPr algn="ctr"/>
            <a:r>
              <a:rPr sz="1300" b="1" i="0">
                <a:solidFill>
                  <a:srgbClr val="0D111A"/>
                </a:solidFill>
              </a:rPr>
              <a:t>LinkedIn
Job Page</a:t>
            </a:r>
          </a:p>
        </p:txBody>
      </p:sp>
      <p:sp>
        <p:nvSpPr>
          <p:cNvPr id="11" name="TextBox 10"/>
          <p:cNvSpPr txBox="1"/>
          <p:nvPr/>
        </p:nvSpPr>
        <p:spPr>
          <a:xfrm>
            <a:off x="2468880" y="1965960"/>
            <a:ext cx="320040" cy="457200"/>
          </a:xfrm>
          <a:prstGeom prst="rect">
            <a:avLst/>
          </a:prstGeom>
          <a:noFill/>
        </p:spPr>
        <p:txBody>
          <a:bodyPr wrap="square">
            <a:spAutoFit/>
          </a:bodyPr>
          <a:lstStyle/>
          <a:p>
            <a:pPr algn="ctr"/>
            <a:r>
              <a:rPr sz="2000" b="1" i="0">
                <a:solidFill>
                  <a:srgbClr val="94A3B8"/>
                </a:solidFill>
              </a:rPr>
              <a:t>→</a:t>
            </a:r>
          </a:p>
        </p:txBody>
      </p:sp>
      <p:sp>
        <p:nvSpPr>
          <p:cNvPr id="12" name="TextBox 11"/>
          <p:cNvSpPr txBox="1"/>
          <p:nvPr/>
        </p:nvSpPr>
        <p:spPr>
          <a:xfrm>
            <a:off x="365760" y="2770632"/>
            <a:ext cx="2103120" cy="411480"/>
          </a:xfrm>
          <a:prstGeom prst="rect">
            <a:avLst/>
          </a:prstGeom>
          <a:noFill/>
        </p:spPr>
        <p:txBody>
          <a:bodyPr wrap="square">
            <a:spAutoFit/>
          </a:bodyPr>
          <a:lstStyle/>
          <a:p>
            <a:pPr algn="ctr"/>
            <a:r>
              <a:rPr sz="900" b="0" i="0">
                <a:solidFill>
                  <a:srgbClr val="94A3B8"/>
                </a:solidFill>
              </a:rPr>
              <a:t>User opens job listing on linkedin.com</a:t>
            </a:r>
          </a:p>
        </p:txBody>
      </p:sp>
      <p:sp>
        <p:nvSpPr>
          <p:cNvPr id="13" name="Rectangle 12"/>
          <p:cNvSpPr/>
          <p:nvPr/>
        </p:nvSpPr>
        <p:spPr>
          <a:xfrm>
            <a:off x="2788920" y="1645920"/>
            <a:ext cx="2103120" cy="10515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1755648"/>
            <a:ext cx="2103120" cy="640080"/>
          </a:xfrm>
          <a:prstGeom prst="rect">
            <a:avLst/>
          </a:prstGeom>
          <a:noFill/>
        </p:spPr>
        <p:txBody>
          <a:bodyPr wrap="square">
            <a:spAutoFit/>
          </a:bodyPr>
          <a:lstStyle/>
          <a:p>
            <a:pPr algn="ctr"/>
            <a:r>
              <a:rPr sz="1300" b="1" i="0">
                <a:solidFill>
                  <a:srgbClr val="0D111A"/>
                </a:solidFill>
              </a:rPr>
              <a:t>content.js</a:t>
            </a:r>
          </a:p>
        </p:txBody>
      </p:sp>
      <p:sp>
        <p:nvSpPr>
          <p:cNvPr id="15" name="TextBox 14"/>
          <p:cNvSpPr txBox="1"/>
          <p:nvPr/>
        </p:nvSpPr>
        <p:spPr>
          <a:xfrm>
            <a:off x="4892040" y="1965960"/>
            <a:ext cx="320040" cy="457200"/>
          </a:xfrm>
          <a:prstGeom prst="rect">
            <a:avLst/>
          </a:prstGeom>
          <a:noFill/>
        </p:spPr>
        <p:txBody>
          <a:bodyPr wrap="square">
            <a:spAutoFit/>
          </a:bodyPr>
          <a:lstStyle/>
          <a:p>
            <a:pPr algn="ctr"/>
            <a:r>
              <a:rPr sz="2000" b="1" i="0">
                <a:solidFill>
                  <a:srgbClr val="94A3B8"/>
                </a:solidFill>
              </a:rPr>
              <a:t>→</a:t>
            </a:r>
          </a:p>
        </p:txBody>
      </p:sp>
      <p:sp>
        <p:nvSpPr>
          <p:cNvPr id="16" name="TextBox 15"/>
          <p:cNvSpPr txBox="1"/>
          <p:nvPr/>
        </p:nvSpPr>
        <p:spPr>
          <a:xfrm>
            <a:off x="2788920" y="2770632"/>
            <a:ext cx="2103120" cy="411480"/>
          </a:xfrm>
          <a:prstGeom prst="rect">
            <a:avLst/>
          </a:prstGeom>
          <a:noFill/>
        </p:spPr>
        <p:txBody>
          <a:bodyPr wrap="square">
            <a:spAutoFit/>
          </a:bodyPr>
          <a:lstStyle/>
          <a:p>
            <a:pPr algn="ctr"/>
            <a:r>
              <a:rPr sz="900" b="0" i="0">
                <a:solidFill>
                  <a:srgbClr val="94A3B8"/>
                </a:solidFill>
              </a:rPr>
              <a:t>Scrapes DOM · Injects button &amp; overlay</a:t>
            </a:r>
          </a:p>
        </p:txBody>
      </p:sp>
      <p:sp>
        <p:nvSpPr>
          <p:cNvPr id="17" name="Rectangle 16"/>
          <p:cNvSpPr/>
          <p:nvPr/>
        </p:nvSpPr>
        <p:spPr>
          <a:xfrm>
            <a:off x="5212080" y="1645920"/>
            <a:ext cx="2103120" cy="10515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1755648"/>
            <a:ext cx="2103120" cy="640080"/>
          </a:xfrm>
          <a:prstGeom prst="rect">
            <a:avLst/>
          </a:prstGeom>
          <a:noFill/>
        </p:spPr>
        <p:txBody>
          <a:bodyPr wrap="square">
            <a:spAutoFit/>
          </a:bodyPr>
          <a:lstStyle/>
          <a:p>
            <a:pPr algn="ctr"/>
            <a:r>
              <a:rPr sz="1300" b="1" i="0">
                <a:solidFill>
                  <a:srgbClr val="0D111A"/>
                </a:solidFill>
              </a:rPr>
              <a:t>background.js
(Service Worker)</a:t>
            </a:r>
          </a:p>
        </p:txBody>
      </p:sp>
      <p:sp>
        <p:nvSpPr>
          <p:cNvPr id="19" name="TextBox 18"/>
          <p:cNvSpPr txBox="1"/>
          <p:nvPr/>
        </p:nvSpPr>
        <p:spPr>
          <a:xfrm>
            <a:off x="7315200" y="1965960"/>
            <a:ext cx="320040" cy="457200"/>
          </a:xfrm>
          <a:prstGeom prst="rect">
            <a:avLst/>
          </a:prstGeom>
          <a:noFill/>
        </p:spPr>
        <p:txBody>
          <a:bodyPr wrap="square">
            <a:spAutoFit/>
          </a:bodyPr>
          <a:lstStyle/>
          <a:p>
            <a:pPr algn="ctr"/>
            <a:r>
              <a:rPr sz="2000" b="1" i="0">
                <a:solidFill>
                  <a:srgbClr val="94A3B8"/>
                </a:solidFill>
              </a:rPr>
              <a:t>→</a:t>
            </a:r>
          </a:p>
        </p:txBody>
      </p:sp>
      <p:sp>
        <p:nvSpPr>
          <p:cNvPr id="20" name="TextBox 19"/>
          <p:cNvSpPr txBox="1"/>
          <p:nvPr/>
        </p:nvSpPr>
        <p:spPr>
          <a:xfrm>
            <a:off x="5212080" y="2770632"/>
            <a:ext cx="2103120" cy="411480"/>
          </a:xfrm>
          <a:prstGeom prst="rect">
            <a:avLst/>
          </a:prstGeom>
          <a:noFill/>
        </p:spPr>
        <p:txBody>
          <a:bodyPr wrap="square">
            <a:spAutoFit/>
          </a:bodyPr>
          <a:lstStyle/>
          <a:p>
            <a:pPr algn="ctr"/>
            <a:r>
              <a:rPr sz="900" b="0" i="0">
                <a:solidFill>
                  <a:srgbClr val="94A3B8"/>
                </a:solidFill>
              </a:rPr>
              <a:t>Orchestrates the pipeline · Holds ToolRegistry</a:t>
            </a:r>
          </a:p>
        </p:txBody>
      </p:sp>
      <p:sp>
        <p:nvSpPr>
          <p:cNvPr id="21" name="Rectangle 20"/>
          <p:cNvSpPr/>
          <p:nvPr/>
        </p:nvSpPr>
        <p:spPr>
          <a:xfrm>
            <a:off x="7635240" y="1645920"/>
            <a:ext cx="2103120" cy="10515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1755648"/>
            <a:ext cx="2103120" cy="640080"/>
          </a:xfrm>
          <a:prstGeom prst="rect">
            <a:avLst/>
          </a:prstGeom>
          <a:noFill/>
        </p:spPr>
        <p:txBody>
          <a:bodyPr wrap="square">
            <a:spAutoFit/>
          </a:bodyPr>
          <a:lstStyle/>
          <a:p>
            <a:pPr algn="ctr"/>
            <a:r>
              <a:rPr sz="1300" b="1" i="0">
                <a:solidFill>
                  <a:srgbClr val="0D111A"/>
                </a:solidFill>
              </a:rPr>
              <a:t>Tool Pipeline
(5 Tools)</a:t>
            </a:r>
          </a:p>
        </p:txBody>
      </p:sp>
      <p:sp>
        <p:nvSpPr>
          <p:cNvPr id="23" name="TextBox 22"/>
          <p:cNvSpPr txBox="1"/>
          <p:nvPr/>
        </p:nvSpPr>
        <p:spPr>
          <a:xfrm>
            <a:off x="9738360" y="1965960"/>
            <a:ext cx="320040" cy="457200"/>
          </a:xfrm>
          <a:prstGeom prst="rect">
            <a:avLst/>
          </a:prstGeom>
          <a:noFill/>
        </p:spPr>
        <p:txBody>
          <a:bodyPr wrap="square">
            <a:spAutoFit/>
          </a:bodyPr>
          <a:lstStyle/>
          <a:p>
            <a:pPr algn="ctr"/>
            <a:r>
              <a:rPr sz="2000" b="1" i="0">
                <a:solidFill>
                  <a:srgbClr val="94A3B8"/>
                </a:solidFill>
              </a:rPr>
              <a:t>→</a:t>
            </a:r>
          </a:p>
        </p:txBody>
      </p:sp>
      <p:sp>
        <p:nvSpPr>
          <p:cNvPr id="24" name="TextBox 23"/>
          <p:cNvSpPr txBox="1"/>
          <p:nvPr/>
        </p:nvSpPr>
        <p:spPr>
          <a:xfrm>
            <a:off x="7635240" y="2770632"/>
            <a:ext cx="2103120" cy="411480"/>
          </a:xfrm>
          <a:prstGeom prst="rect">
            <a:avLst/>
          </a:prstGeom>
          <a:noFill/>
        </p:spPr>
        <p:txBody>
          <a:bodyPr wrap="square">
            <a:spAutoFit/>
          </a:bodyPr>
          <a:lstStyle/>
          <a:p>
            <a:pPr algn="ctr"/>
            <a:r>
              <a:rPr sz="900" b="0" i="0">
                <a:solidFill>
                  <a:srgbClr val="94A3B8"/>
                </a:solidFill>
              </a:rPr>
              <a:t>Runs ML + link scraping + Gemini LLM</a:t>
            </a:r>
          </a:p>
        </p:txBody>
      </p:sp>
      <p:sp>
        <p:nvSpPr>
          <p:cNvPr id="25" name="Rectangle 24"/>
          <p:cNvSpPr/>
          <p:nvPr/>
        </p:nvSpPr>
        <p:spPr>
          <a:xfrm>
            <a:off x="10058400" y="1645920"/>
            <a:ext cx="2103120" cy="10515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0" y="1755648"/>
            <a:ext cx="2103120" cy="640080"/>
          </a:xfrm>
          <a:prstGeom prst="rect">
            <a:avLst/>
          </a:prstGeom>
          <a:noFill/>
        </p:spPr>
        <p:txBody>
          <a:bodyPr wrap="square">
            <a:spAutoFit/>
          </a:bodyPr>
          <a:lstStyle/>
          <a:p>
            <a:pPr algn="ctr"/>
            <a:r>
              <a:rPr sz="1300" b="1" i="0">
                <a:solidFill>
                  <a:srgbClr val="0D111A"/>
                </a:solidFill>
              </a:rPr>
              <a:t>Result
Overlay</a:t>
            </a:r>
          </a:p>
        </p:txBody>
      </p:sp>
      <p:sp>
        <p:nvSpPr>
          <p:cNvPr id="27" name="TextBox 26"/>
          <p:cNvSpPr txBox="1"/>
          <p:nvPr/>
        </p:nvSpPr>
        <p:spPr>
          <a:xfrm>
            <a:off x="10058400" y="2770632"/>
            <a:ext cx="2103120" cy="411480"/>
          </a:xfrm>
          <a:prstGeom prst="rect">
            <a:avLst/>
          </a:prstGeom>
          <a:noFill/>
        </p:spPr>
        <p:txBody>
          <a:bodyPr wrap="square">
            <a:spAutoFit/>
          </a:bodyPr>
          <a:lstStyle/>
          <a:p>
            <a:pPr algn="ctr"/>
            <a:r>
              <a:rPr sz="900" b="0" i="0">
                <a:solidFill>
                  <a:srgbClr val="94A3B8"/>
                </a:solidFill>
              </a:rPr>
              <a:t>Verdict rendered on LinkedIn page</a:t>
            </a:r>
          </a:p>
        </p:txBody>
      </p:sp>
      <p:sp>
        <p:nvSpPr>
          <p:cNvPr id="28" name="TextBox 27"/>
          <p:cNvSpPr txBox="1"/>
          <p:nvPr/>
        </p:nvSpPr>
        <p:spPr>
          <a:xfrm>
            <a:off x="411480" y="3200400"/>
            <a:ext cx="10972800" cy="365760"/>
          </a:xfrm>
          <a:prstGeom prst="rect">
            <a:avLst/>
          </a:prstGeom>
          <a:noFill/>
        </p:spPr>
        <p:txBody>
          <a:bodyPr wrap="square">
            <a:spAutoFit/>
          </a:bodyPr>
          <a:lstStyle/>
          <a:p>
            <a:pPr algn="l"/>
            <a:r>
              <a:rPr sz="1500" b="1" i="0">
                <a:solidFill>
                  <a:srgbClr val="38BDF8"/>
                </a:solidFill>
              </a:rPr>
              <a:t>The 5 Tools Inside background.js</a:t>
            </a:r>
          </a:p>
        </p:txBody>
      </p:sp>
      <p:sp>
        <p:nvSpPr>
          <p:cNvPr id="29" name="Rectangle 28"/>
          <p:cNvSpPr/>
          <p:nvPr/>
        </p:nvSpPr>
        <p:spPr>
          <a:xfrm>
            <a:off x="411480" y="3611880"/>
            <a:ext cx="2240280" cy="25603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3611880"/>
            <a:ext cx="224028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721608"/>
            <a:ext cx="2103120" cy="411480"/>
          </a:xfrm>
          <a:prstGeom prst="rect">
            <a:avLst/>
          </a:prstGeom>
          <a:noFill/>
        </p:spPr>
        <p:txBody>
          <a:bodyPr wrap="square">
            <a:spAutoFit/>
          </a:bodyPr>
          <a:lstStyle/>
          <a:p>
            <a:pPr algn="l"/>
            <a:r>
              <a:rPr sz="1100" b="1" i="0">
                <a:solidFill>
                  <a:srgbClr val="34D399"/>
                </a:solidFill>
              </a:rPr>
              <a:t>🤖  RoBERTaTool</a:t>
            </a:r>
          </a:p>
        </p:txBody>
      </p:sp>
      <p:sp>
        <p:nvSpPr>
          <p:cNvPr id="32" name="TextBox 31"/>
          <p:cNvSpPr txBox="1"/>
          <p:nvPr/>
        </p:nvSpPr>
        <p:spPr>
          <a:xfrm>
            <a:off x="502920" y="4142232"/>
            <a:ext cx="2103120" cy="1920240"/>
          </a:xfrm>
          <a:prstGeom prst="rect">
            <a:avLst/>
          </a:prstGeom>
          <a:noFill/>
        </p:spPr>
        <p:txBody>
          <a:bodyPr wrap="square">
            <a:spAutoFit/>
          </a:bodyPr>
          <a:lstStyle/>
          <a:p>
            <a:pPr algn="l"/>
            <a:r>
              <a:rPr sz="1000" b="0" i="0">
                <a:solidFill>
                  <a:srgbClr val="94A3B8"/>
                </a:solidFill>
              </a:rPr>
              <a:t>POST to HuggingFace Inference API
aditya963/fraud-job-classifier
Returns fraud probability 0→1</a:t>
            </a:r>
          </a:p>
        </p:txBody>
      </p:sp>
      <p:sp>
        <p:nvSpPr>
          <p:cNvPr id="33" name="Rectangle 32"/>
          <p:cNvSpPr/>
          <p:nvPr/>
        </p:nvSpPr>
        <p:spPr>
          <a:xfrm>
            <a:off x="2761488" y="3611880"/>
            <a:ext cx="2240280" cy="25603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61488" y="3611880"/>
            <a:ext cx="2240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2928" y="3721608"/>
            <a:ext cx="2103120" cy="411480"/>
          </a:xfrm>
          <a:prstGeom prst="rect">
            <a:avLst/>
          </a:prstGeom>
          <a:noFill/>
        </p:spPr>
        <p:txBody>
          <a:bodyPr wrap="square">
            <a:spAutoFit/>
          </a:bodyPr>
          <a:lstStyle/>
          <a:p>
            <a:pPr algn="l"/>
            <a:r>
              <a:rPr sz="1100" b="1" i="0">
                <a:solidFill>
                  <a:srgbClr val="38BDF8"/>
                </a:solidFill>
              </a:rPr>
              <a:t>🔗  DetectLinksTool</a:t>
            </a:r>
          </a:p>
        </p:txBody>
      </p:sp>
      <p:sp>
        <p:nvSpPr>
          <p:cNvPr id="36" name="TextBox 35"/>
          <p:cNvSpPr txBox="1"/>
          <p:nvPr/>
        </p:nvSpPr>
        <p:spPr>
          <a:xfrm>
            <a:off x="2852928" y="4142232"/>
            <a:ext cx="2103120" cy="1920240"/>
          </a:xfrm>
          <a:prstGeom prst="rect">
            <a:avLst/>
          </a:prstGeom>
          <a:noFill/>
        </p:spPr>
        <p:txBody>
          <a:bodyPr wrap="square">
            <a:spAutoFit/>
          </a:bodyPr>
          <a:lstStyle/>
          <a:p>
            <a:pPr algn="l"/>
            <a:r>
              <a:rPr sz="1000" b="0" i="0">
                <a:solidFill>
                  <a:srgbClr val="94A3B8"/>
                </a:solidFill>
              </a:rPr>
              <a:t>Regex scan of job description
Finds company URLs, social links
Queues them for scraping</a:t>
            </a:r>
          </a:p>
        </p:txBody>
      </p:sp>
      <p:sp>
        <p:nvSpPr>
          <p:cNvPr id="37" name="Rectangle 36"/>
          <p:cNvSpPr/>
          <p:nvPr/>
        </p:nvSpPr>
        <p:spPr>
          <a:xfrm>
            <a:off x="5111496" y="3611880"/>
            <a:ext cx="2240280" cy="25603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11496" y="3611880"/>
            <a:ext cx="2240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02936" y="3721608"/>
            <a:ext cx="2103120" cy="411480"/>
          </a:xfrm>
          <a:prstGeom prst="rect">
            <a:avLst/>
          </a:prstGeom>
          <a:noFill/>
        </p:spPr>
        <p:txBody>
          <a:bodyPr wrap="square">
            <a:spAutoFit/>
          </a:bodyPr>
          <a:lstStyle/>
          <a:p>
            <a:pPr algn="l"/>
            <a:r>
              <a:rPr sz="1100" b="1" i="0">
                <a:solidFill>
                  <a:srgbClr val="38BDF8"/>
                </a:solidFill>
              </a:rPr>
              <a:t>🌐  LinkScraperTool</a:t>
            </a:r>
          </a:p>
        </p:txBody>
      </p:sp>
      <p:sp>
        <p:nvSpPr>
          <p:cNvPr id="40" name="TextBox 39"/>
          <p:cNvSpPr txBox="1"/>
          <p:nvPr/>
        </p:nvSpPr>
        <p:spPr>
          <a:xfrm>
            <a:off x="5202936" y="4142232"/>
            <a:ext cx="2103120" cy="1920240"/>
          </a:xfrm>
          <a:prstGeom prst="rect">
            <a:avLst/>
          </a:prstGeom>
          <a:noFill/>
        </p:spPr>
        <p:txBody>
          <a:bodyPr wrap="square">
            <a:spAutoFit/>
          </a:bodyPr>
          <a:lstStyle/>
          <a:p>
            <a:pPr algn="l"/>
            <a:r>
              <a:rPr sz="1000" b="0" i="0">
                <a:solidFill>
                  <a:srgbClr val="94A3B8"/>
                </a:solidFill>
              </a:rPr>
              <a:t>Fetches each discovered URL
Extracts visible text content
Builds evidence context</a:t>
            </a:r>
          </a:p>
        </p:txBody>
      </p:sp>
      <p:sp>
        <p:nvSpPr>
          <p:cNvPr id="41" name="Rectangle 40"/>
          <p:cNvSpPr/>
          <p:nvPr/>
        </p:nvSpPr>
        <p:spPr>
          <a:xfrm>
            <a:off x="7461504" y="3611880"/>
            <a:ext cx="2240280" cy="25603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61504" y="3611880"/>
            <a:ext cx="224028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52944" y="3721608"/>
            <a:ext cx="2103120" cy="411480"/>
          </a:xfrm>
          <a:prstGeom prst="rect">
            <a:avLst/>
          </a:prstGeom>
          <a:noFill/>
        </p:spPr>
        <p:txBody>
          <a:bodyPr wrap="square">
            <a:spAutoFit/>
          </a:bodyPr>
          <a:lstStyle/>
          <a:p>
            <a:pPr algn="l"/>
            <a:r>
              <a:rPr sz="1100" b="1" i="0">
                <a:solidFill>
                  <a:srgbClr val="A78BFA"/>
                </a:solidFill>
              </a:rPr>
              <a:t>📄  ContentAggregatorTool</a:t>
            </a:r>
          </a:p>
        </p:txBody>
      </p:sp>
      <p:sp>
        <p:nvSpPr>
          <p:cNvPr id="44" name="TextBox 43"/>
          <p:cNvSpPr txBox="1"/>
          <p:nvPr/>
        </p:nvSpPr>
        <p:spPr>
          <a:xfrm>
            <a:off x="7552944" y="4142232"/>
            <a:ext cx="2103120" cy="1920240"/>
          </a:xfrm>
          <a:prstGeom prst="rect">
            <a:avLst/>
          </a:prstGeom>
          <a:noFill/>
        </p:spPr>
        <p:txBody>
          <a:bodyPr wrap="square">
            <a:spAutoFit/>
          </a:bodyPr>
          <a:lstStyle/>
          <a:p>
            <a:pPr algn="l"/>
            <a:r>
              <a:rPr sz="1000" b="0" i="0">
                <a:solidFill>
                  <a:srgbClr val="94A3B8"/>
                </a:solidFill>
              </a:rPr>
              <a:t>Merges all scraped text blobs
Creates unified context string
Passed to LLM as evidence</a:t>
            </a:r>
          </a:p>
        </p:txBody>
      </p:sp>
      <p:sp>
        <p:nvSpPr>
          <p:cNvPr id="45" name="Rectangle 44"/>
          <p:cNvSpPr/>
          <p:nvPr/>
        </p:nvSpPr>
        <p:spPr>
          <a:xfrm>
            <a:off x="9811512" y="3611880"/>
            <a:ext cx="2240280" cy="25603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11512" y="3611880"/>
            <a:ext cx="224028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02952" y="3721608"/>
            <a:ext cx="2103120" cy="411480"/>
          </a:xfrm>
          <a:prstGeom prst="rect">
            <a:avLst/>
          </a:prstGeom>
          <a:noFill/>
        </p:spPr>
        <p:txBody>
          <a:bodyPr wrap="square">
            <a:spAutoFit/>
          </a:bodyPr>
          <a:lstStyle/>
          <a:p>
            <a:pPr algn="l"/>
            <a:r>
              <a:rPr sz="1100" b="1" i="0">
                <a:solidFill>
                  <a:srgbClr val="FBBF24"/>
                </a:solidFill>
              </a:rPr>
              <a:t>🧠  JobAnalyzerTool</a:t>
            </a:r>
          </a:p>
        </p:txBody>
      </p:sp>
      <p:sp>
        <p:nvSpPr>
          <p:cNvPr id="48" name="TextBox 47"/>
          <p:cNvSpPr txBox="1"/>
          <p:nvPr/>
        </p:nvSpPr>
        <p:spPr>
          <a:xfrm>
            <a:off x="9902952" y="4142232"/>
            <a:ext cx="2103120" cy="1920240"/>
          </a:xfrm>
          <a:prstGeom prst="rect">
            <a:avLst/>
          </a:prstGeom>
          <a:noFill/>
        </p:spPr>
        <p:txBody>
          <a:bodyPr wrap="square">
            <a:spAutoFit/>
          </a:bodyPr>
          <a:lstStyle/>
          <a:p>
            <a:pPr algn="l"/>
            <a:r>
              <a:rPr sz="1000" b="0" i="0">
                <a:solidFill>
                  <a:srgbClr val="94A3B8"/>
                </a:solidFill>
              </a:rPr>
              <a:t>Calls Google Gemini 2.5-Flash
Receives job text + RoBERTa + links
Outputs verdict + reasoning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Version 1 — Data Flow</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Step-by-step: how a job listing becomes a fraud verdict</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V1</a:t>
            </a:r>
          </a:p>
        </p:txBody>
      </p:sp>
      <p:sp>
        <p:nvSpPr>
          <p:cNvPr id="9" name="Rectangle 8"/>
          <p:cNvSpPr/>
          <p:nvPr/>
        </p:nvSpPr>
        <p:spPr>
          <a:xfrm>
            <a:off x="320040" y="1325880"/>
            <a:ext cx="2176272" cy="43891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325880"/>
            <a:ext cx="217627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426464"/>
            <a:ext cx="1993392" cy="365760"/>
          </a:xfrm>
          <a:prstGeom prst="rect">
            <a:avLst/>
          </a:prstGeom>
          <a:noFill/>
        </p:spPr>
        <p:txBody>
          <a:bodyPr wrap="square">
            <a:spAutoFit/>
          </a:bodyPr>
          <a:lstStyle/>
          <a:p>
            <a:pPr algn="l"/>
            <a:r>
              <a:rPr sz="1400" b="1" i="0">
                <a:solidFill>
                  <a:srgbClr val="38BDF8"/>
                </a:solidFill>
              </a:rPr>
              <a:t>① Scrape</a:t>
            </a:r>
          </a:p>
        </p:txBody>
      </p:sp>
      <p:sp>
        <p:nvSpPr>
          <p:cNvPr id="12" name="TextBox 11"/>
          <p:cNvSpPr txBox="1"/>
          <p:nvPr/>
        </p:nvSpPr>
        <p:spPr>
          <a:xfrm>
            <a:off x="429768" y="1874519"/>
            <a:ext cx="2011680" cy="3657600"/>
          </a:xfrm>
          <a:prstGeom prst="rect">
            <a:avLst/>
          </a:prstGeom>
          <a:noFill/>
        </p:spPr>
        <p:txBody>
          <a:bodyPr wrap="square">
            <a:spAutoFit/>
          </a:bodyPr>
          <a:lstStyle/>
          <a:p>
            <a:pPr algn="l"/>
            <a:r>
              <a:rPr sz="1100" b="0" i="0">
                <a:solidFill>
                  <a:srgbClr val="94A3B8"/>
                </a:solidFill>
              </a:rPr>
              <a:t>content.js reads the LinkedIn DOM
Extracts: title, company, description,
location, salary, links
MutationObserver re-triggers on SPA navigation</a:t>
            </a:r>
          </a:p>
        </p:txBody>
      </p:sp>
      <p:sp>
        <p:nvSpPr>
          <p:cNvPr id="13" name="TextBox 12"/>
          <p:cNvSpPr txBox="1"/>
          <p:nvPr/>
        </p:nvSpPr>
        <p:spPr>
          <a:xfrm>
            <a:off x="2514600" y="3291840"/>
            <a:ext cx="201168" cy="365760"/>
          </a:xfrm>
          <a:prstGeom prst="rect">
            <a:avLst/>
          </a:prstGeom>
          <a:noFill/>
        </p:spPr>
        <p:txBody>
          <a:bodyPr wrap="square">
            <a:spAutoFit/>
          </a:bodyPr>
          <a:lstStyle/>
          <a:p>
            <a:pPr algn="ctr"/>
            <a:r>
              <a:rPr sz="1400" b="0" i="0">
                <a:solidFill>
                  <a:srgbClr val="94A3B8"/>
                </a:solidFill>
              </a:rPr>
              <a:t>▶</a:t>
            </a:r>
          </a:p>
        </p:txBody>
      </p:sp>
      <p:sp>
        <p:nvSpPr>
          <p:cNvPr id="14" name="Rectangle 13"/>
          <p:cNvSpPr/>
          <p:nvPr/>
        </p:nvSpPr>
        <p:spPr>
          <a:xfrm>
            <a:off x="2679192" y="1325880"/>
            <a:ext cx="2176272" cy="43891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325880"/>
            <a:ext cx="2176272"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1426464"/>
            <a:ext cx="1993392" cy="365760"/>
          </a:xfrm>
          <a:prstGeom prst="rect">
            <a:avLst/>
          </a:prstGeom>
          <a:noFill/>
        </p:spPr>
        <p:txBody>
          <a:bodyPr wrap="square">
            <a:spAutoFit/>
          </a:bodyPr>
          <a:lstStyle/>
          <a:p>
            <a:pPr algn="l"/>
            <a:r>
              <a:rPr sz="1400" b="1" i="0">
                <a:solidFill>
                  <a:srgbClr val="A78BFA"/>
                </a:solidFill>
              </a:rPr>
              <a:t>② Message</a:t>
            </a:r>
          </a:p>
        </p:txBody>
      </p:sp>
      <p:sp>
        <p:nvSpPr>
          <p:cNvPr id="17" name="TextBox 16"/>
          <p:cNvSpPr txBox="1"/>
          <p:nvPr/>
        </p:nvSpPr>
        <p:spPr>
          <a:xfrm>
            <a:off x="2788920" y="1874519"/>
            <a:ext cx="2011680" cy="3657600"/>
          </a:xfrm>
          <a:prstGeom prst="rect">
            <a:avLst/>
          </a:prstGeom>
          <a:noFill/>
        </p:spPr>
        <p:txBody>
          <a:bodyPr wrap="square">
            <a:spAutoFit/>
          </a:bodyPr>
          <a:lstStyle/>
          <a:p>
            <a:pPr algn="l"/>
            <a:r>
              <a:rPr sz="1100" b="0" i="0">
                <a:solidFill>
                  <a:srgbClr val="94A3B8"/>
                </a:solidFill>
              </a:rPr>
              <a:t>chrome.runtime.sendMessage()
{ type: 'ANALYZE_JOB', data: jobData }
Keeps channel open with  return true
for async response</a:t>
            </a:r>
          </a:p>
        </p:txBody>
      </p:sp>
      <p:sp>
        <p:nvSpPr>
          <p:cNvPr id="18" name="TextBox 17"/>
          <p:cNvSpPr txBox="1"/>
          <p:nvPr/>
        </p:nvSpPr>
        <p:spPr>
          <a:xfrm>
            <a:off x="4873752" y="3291840"/>
            <a:ext cx="201168" cy="365760"/>
          </a:xfrm>
          <a:prstGeom prst="rect">
            <a:avLst/>
          </a:prstGeom>
          <a:noFill/>
        </p:spPr>
        <p:txBody>
          <a:bodyPr wrap="square">
            <a:spAutoFit/>
          </a:bodyPr>
          <a:lstStyle/>
          <a:p>
            <a:pPr algn="ctr"/>
            <a:r>
              <a:rPr sz="1400" b="0" i="0">
                <a:solidFill>
                  <a:srgbClr val="94A3B8"/>
                </a:solidFill>
              </a:rPr>
              <a:t>▶</a:t>
            </a:r>
          </a:p>
        </p:txBody>
      </p:sp>
      <p:sp>
        <p:nvSpPr>
          <p:cNvPr id="19" name="Rectangle 18"/>
          <p:cNvSpPr/>
          <p:nvPr/>
        </p:nvSpPr>
        <p:spPr>
          <a:xfrm>
            <a:off x="5038344" y="1325880"/>
            <a:ext cx="2176272" cy="43891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1325880"/>
            <a:ext cx="2176272"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48072" y="1426464"/>
            <a:ext cx="1993392" cy="365760"/>
          </a:xfrm>
          <a:prstGeom prst="rect">
            <a:avLst/>
          </a:prstGeom>
          <a:noFill/>
        </p:spPr>
        <p:txBody>
          <a:bodyPr wrap="square">
            <a:spAutoFit/>
          </a:bodyPr>
          <a:lstStyle/>
          <a:p>
            <a:pPr algn="l"/>
            <a:r>
              <a:rPr sz="1400" b="1" i="0">
                <a:solidFill>
                  <a:srgbClr val="34D399"/>
                </a:solidFill>
              </a:rPr>
              <a:t>③ Parallel Run</a:t>
            </a:r>
          </a:p>
        </p:txBody>
      </p:sp>
      <p:sp>
        <p:nvSpPr>
          <p:cNvPr id="22" name="TextBox 21"/>
          <p:cNvSpPr txBox="1"/>
          <p:nvPr/>
        </p:nvSpPr>
        <p:spPr>
          <a:xfrm>
            <a:off x="5148072" y="1874519"/>
            <a:ext cx="2011680" cy="3657600"/>
          </a:xfrm>
          <a:prstGeom prst="rect">
            <a:avLst/>
          </a:prstGeom>
          <a:noFill/>
        </p:spPr>
        <p:txBody>
          <a:bodyPr wrap="square">
            <a:spAutoFit/>
          </a:bodyPr>
          <a:lstStyle/>
          <a:p>
            <a:pPr algn="l"/>
            <a:r>
              <a:rPr sz="1100" b="0" i="0">
                <a:solidFill>
                  <a:srgbClr val="94A3B8"/>
                </a:solidFill>
              </a:rPr>
              <a:t>Two branches simultaneously:
Branch A → RoBERTaTool (HuggingFace)
Branch B → DetectLinks → Scrape URLs
         → Aggregate all content</a:t>
            </a:r>
          </a:p>
        </p:txBody>
      </p:sp>
      <p:sp>
        <p:nvSpPr>
          <p:cNvPr id="23" name="TextBox 22"/>
          <p:cNvSpPr txBox="1"/>
          <p:nvPr/>
        </p:nvSpPr>
        <p:spPr>
          <a:xfrm>
            <a:off x="7232904" y="3291840"/>
            <a:ext cx="201168" cy="365760"/>
          </a:xfrm>
          <a:prstGeom prst="rect">
            <a:avLst/>
          </a:prstGeom>
          <a:noFill/>
        </p:spPr>
        <p:txBody>
          <a:bodyPr wrap="square">
            <a:spAutoFit/>
          </a:bodyPr>
          <a:lstStyle/>
          <a:p>
            <a:pPr algn="ctr"/>
            <a:r>
              <a:rPr sz="1400" b="0" i="0">
                <a:solidFill>
                  <a:srgbClr val="94A3B8"/>
                </a:solidFill>
              </a:rPr>
              <a:t>▶</a:t>
            </a:r>
          </a:p>
        </p:txBody>
      </p:sp>
      <p:sp>
        <p:nvSpPr>
          <p:cNvPr id="24" name="Rectangle 23"/>
          <p:cNvSpPr/>
          <p:nvPr/>
        </p:nvSpPr>
        <p:spPr>
          <a:xfrm>
            <a:off x="7397496" y="1325880"/>
            <a:ext cx="2176272" cy="43891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7496" y="1325880"/>
            <a:ext cx="2176272"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224" y="1426464"/>
            <a:ext cx="1993392" cy="365760"/>
          </a:xfrm>
          <a:prstGeom prst="rect">
            <a:avLst/>
          </a:prstGeom>
          <a:noFill/>
        </p:spPr>
        <p:txBody>
          <a:bodyPr wrap="square">
            <a:spAutoFit/>
          </a:bodyPr>
          <a:lstStyle/>
          <a:p>
            <a:pPr algn="l"/>
            <a:r>
              <a:rPr sz="1400" b="1" i="0">
                <a:solidFill>
                  <a:srgbClr val="FBBF24"/>
                </a:solidFill>
              </a:rPr>
              <a:t>④ LLM Verdict</a:t>
            </a:r>
          </a:p>
        </p:txBody>
      </p:sp>
      <p:sp>
        <p:nvSpPr>
          <p:cNvPr id="27" name="TextBox 26"/>
          <p:cNvSpPr txBox="1"/>
          <p:nvPr/>
        </p:nvSpPr>
        <p:spPr>
          <a:xfrm>
            <a:off x="7507224" y="1874519"/>
            <a:ext cx="2011680" cy="3657600"/>
          </a:xfrm>
          <a:prstGeom prst="rect">
            <a:avLst/>
          </a:prstGeom>
          <a:noFill/>
        </p:spPr>
        <p:txBody>
          <a:bodyPr wrap="square">
            <a:spAutoFit/>
          </a:bodyPr>
          <a:lstStyle/>
          <a:p>
            <a:pPr algn="l"/>
            <a:r>
              <a:rPr sz="1100" b="0" i="0">
                <a:solidFill>
                  <a:srgbClr val="94A3B8"/>
                </a:solidFill>
              </a:rPr>
              <a:t>JobAnalyzerTool sends to Gemini:
• Job text
• RoBERTa probability
• Scraped link evidence
Gemini returns: SAFE / SUSPICIOUS / LIKELY_FAKE</a:t>
            </a:r>
          </a:p>
        </p:txBody>
      </p:sp>
      <p:sp>
        <p:nvSpPr>
          <p:cNvPr id="28" name="TextBox 27"/>
          <p:cNvSpPr txBox="1"/>
          <p:nvPr/>
        </p:nvSpPr>
        <p:spPr>
          <a:xfrm>
            <a:off x="9592056" y="3291840"/>
            <a:ext cx="201168" cy="365760"/>
          </a:xfrm>
          <a:prstGeom prst="rect">
            <a:avLst/>
          </a:prstGeom>
          <a:noFill/>
        </p:spPr>
        <p:txBody>
          <a:bodyPr wrap="square">
            <a:spAutoFit/>
          </a:bodyPr>
          <a:lstStyle/>
          <a:p>
            <a:pPr algn="ctr"/>
            <a:r>
              <a:rPr sz="1400" b="0" i="0">
                <a:solidFill>
                  <a:srgbClr val="94A3B8"/>
                </a:solidFill>
              </a:rPr>
              <a:t>▶</a:t>
            </a:r>
          </a:p>
        </p:txBody>
      </p:sp>
      <p:sp>
        <p:nvSpPr>
          <p:cNvPr id="29" name="Rectangle 28"/>
          <p:cNvSpPr/>
          <p:nvPr/>
        </p:nvSpPr>
        <p:spPr>
          <a:xfrm>
            <a:off x="9756648" y="1325880"/>
            <a:ext cx="2176272" cy="43891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56648" y="1325880"/>
            <a:ext cx="2176272"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66376" y="1426464"/>
            <a:ext cx="1993392" cy="365760"/>
          </a:xfrm>
          <a:prstGeom prst="rect">
            <a:avLst/>
          </a:prstGeom>
          <a:noFill/>
        </p:spPr>
        <p:txBody>
          <a:bodyPr wrap="square">
            <a:spAutoFit/>
          </a:bodyPr>
          <a:lstStyle/>
          <a:p>
            <a:pPr algn="l"/>
            <a:r>
              <a:rPr sz="1400" b="1" i="0">
                <a:solidFill>
                  <a:srgbClr val="F87171"/>
                </a:solidFill>
              </a:rPr>
              <a:t>⑤ Render</a:t>
            </a:r>
          </a:p>
        </p:txBody>
      </p:sp>
      <p:sp>
        <p:nvSpPr>
          <p:cNvPr id="32" name="TextBox 31"/>
          <p:cNvSpPr txBox="1"/>
          <p:nvPr/>
        </p:nvSpPr>
        <p:spPr>
          <a:xfrm>
            <a:off x="9866376" y="1874519"/>
            <a:ext cx="2011680" cy="3657600"/>
          </a:xfrm>
          <a:prstGeom prst="rect">
            <a:avLst/>
          </a:prstGeom>
          <a:noFill/>
        </p:spPr>
        <p:txBody>
          <a:bodyPr wrap="square">
            <a:spAutoFit/>
          </a:bodyPr>
          <a:lstStyle/>
          <a:p>
            <a:pPr algn="l"/>
            <a:r>
              <a:rPr sz="1100" b="0" i="0">
                <a:solidFill>
                  <a:srgbClr val="94A3B8"/>
                </a:solidFill>
              </a:rPr>
              <a:t>background.js → chrome.tabs.sendMessage
content.js injects overlay panel
Shows: verdict badge + probability
+ LLM reasoning report</a:t>
            </a:r>
          </a:p>
        </p:txBody>
      </p:sp>
      <p:sp>
        <p:nvSpPr>
          <p:cNvPr id="33" name="Rectangle 32"/>
          <p:cNvSpPr/>
          <p:nvPr/>
        </p:nvSpPr>
        <p:spPr>
          <a:xfrm>
            <a:off x="320040" y="5943600"/>
            <a:ext cx="11521440" cy="594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998464"/>
            <a:ext cx="11155680" cy="457200"/>
          </a:xfrm>
          <a:prstGeom prst="rect">
            <a:avLst/>
          </a:prstGeom>
          <a:noFill/>
        </p:spPr>
        <p:txBody>
          <a:bodyPr wrap="square">
            <a:spAutoFit/>
          </a:bodyPr>
          <a:lstStyle/>
          <a:p>
            <a:pPr algn="l"/>
            <a:r>
              <a:rPr sz="1200" b="0" i="0">
                <a:solidFill>
                  <a:srgbClr val="FBBF24"/>
                </a:solidFill>
              </a:rPr>
              <a:t>⚡  Both RoBERTa and link scraping run in parallel (Promise.allSettled) — neither waits for the other.  Gemini only starts after both complete.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MCP Tools We Built — v1 Tool Framework</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A custom tool system inspired by LangChain/MCP: every tool follows BaseTool → ToolResult → ToolRegistry</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V1</a:t>
            </a:r>
          </a:p>
        </p:txBody>
      </p:sp>
      <p:sp>
        <p:nvSpPr>
          <p:cNvPr id="9" name="Rectangle 8"/>
          <p:cNvSpPr/>
          <p:nvPr/>
        </p:nvSpPr>
        <p:spPr>
          <a:xfrm>
            <a:off x="320040" y="1298448"/>
            <a:ext cx="2788920" cy="320040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298448"/>
            <a:ext cx="278892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417320"/>
            <a:ext cx="2624328" cy="384048"/>
          </a:xfrm>
          <a:prstGeom prst="rect">
            <a:avLst/>
          </a:prstGeom>
          <a:noFill/>
        </p:spPr>
        <p:txBody>
          <a:bodyPr wrap="square">
            <a:spAutoFit/>
          </a:bodyPr>
          <a:lstStyle/>
          <a:p>
            <a:pPr algn="l"/>
            <a:r>
              <a:rPr sz="1400" b="1" i="0">
                <a:solidFill>
                  <a:srgbClr val="38BDF8"/>
                </a:solidFill>
              </a:rPr>
              <a:t>BaseTool</a:t>
            </a:r>
          </a:p>
        </p:txBody>
      </p:sp>
      <p:sp>
        <p:nvSpPr>
          <p:cNvPr id="12" name="TextBox 11"/>
          <p:cNvSpPr txBox="1"/>
          <p:nvPr/>
        </p:nvSpPr>
        <p:spPr>
          <a:xfrm>
            <a:off x="429768" y="1874519"/>
            <a:ext cx="2624328" cy="2514600"/>
          </a:xfrm>
          <a:prstGeom prst="rect">
            <a:avLst/>
          </a:prstGeom>
          <a:noFill/>
        </p:spPr>
        <p:txBody>
          <a:bodyPr wrap="square">
            <a:spAutoFit/>
          </a:bodyPr>
          <a:lstStyle/>
          <a:p>
            <a:pPr algn="l"/>
            <a:r>
              <a:rPr sz="1050" b="0" i="0">
                <a:solidFill>
                  <a:srgbClr val="94A3B8"/>
                </a:solidFill>
              </a:rPr>
              <a:t>Abstract base class every tool extends
Defines: name, description, run(input)
Enforces a consistent interface so the
pipeline can call any tool the same way</a:t>
            </a:r>
          </a:p>
        </p:txBody>
      </p:sp>
      <p:sp>
        <p:nvSpPr>
          <p:cNvPr id="13" name="Rectangle 12"/>
          <p:cNvSpPr/>
          <p:nvPr/>
        </p:nvSpPr>
        <p:spPr>
          <a:xfrm>
            <a:off x="3264408" y="1298448"/>
            <a:ext cx="2788920" cy="320040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64408" y="1298448"/>
            <a:ext cx="278892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74136" y="1417320"/>
            <a:ext cx="2624328" cy="384048"/>
          </a:xfrm>
          <a:prstGeom prst="rect">
            <a:avLst/>
          </a:prstGeom>
          <a:noFill/>
        </p:spPr>
        <p:txBody>
          <a:bodyPr wrap="square">
            <a:spAutoFit/>
          </a:bodyPr>
          <a:lstStyle/>
          <a:p>
            <a:pPr algn="l"/>
            <a:r>
              <a:rPr sz="1400" b="1" i="0">
                <a:solidFill>
                  <a:srgbClr val="34D399"/>
                </a:solidFill>
              </a:rPr>
              <a:t>ToolResult</a:t>
            </a:r>
          </a:p>
        </p:txBody>
      </p:sp>
      <p:sp>
        <p:nvSpPr>
          <p:cNvPr id="16" name="TextBox 15"/>
          <p:cNvSpPr txBox="1"/>
          <p:nvPr/>
        </p:nvSpPr>
        <p:spPr>
          <a:xfrm>
            <a:off x="3374136" y="1874519"/>
            <a:ext cx="2624328" cy="2514600"/>
          </a:xfrm>
          <a:prstGeom prst="rect">
            <a:avLst/>
          </a:prstGeom>
          <a:noFill/>
        </p:spPr>
        <p:txBody>
          <a:bodyPr wrap="square">
            <a:spAutoFit/>
          </a:bodyPr>
          <a:lstStyle/>
          <a:p>
            <a:pPr algn="l"/>
            <a:r>
              <a:rPr sz="1050" b="0" i="0">
                <a:solidFill>
                  <a:srgbClr val="94A3B8"/>
                </a:solidFill>
              </a:rPr>
              <a:t>Standardised return wrapper
Fields: success, data, error, metadata
ToolResult.ok(data)  — success path
ToolResult.fail(msg) — error path
Lets pipeline track success/failure
and timing for every tool call</a:t>
            </a:r>
          </a:p>
        </p:txBody>
      </p:sp>
      <p:sp>
        <p:nvSpPr>
          <p:cNvPr id="17" name="Rectangle 16"/>
          <p:cNvSpPr/>
          <p:nvPr/>
        </p:nvSpPr>
        <p:spPr>
          <a:xfrm>
            <a:off x="6208776" y="1298448"/>
            <a:ext cx="2788920" cy="320040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1298448"/>
            <a:ext cx="278892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8504" y="1417320"/>
            <a:ext cx="2624328" cy="384048"/>
          </a:xfrm>
          <a:prstGeom prst="rect">
            <a:avLst/>
          </a:prstGeom>
          <a:noFill/>
        </p:spPr>
        <p:txBody>
          <a:bodyPr wrap="square">
            <a:spAutoFit/>
          </a:bodyPr>
          <a:lstStyle/>
          <a:p>
            <a:pPr algn="l"/>
            <a:r>
              <a:rPr sz="1400" b="1" i="0">
                <a:solidFill>
                  <a:srgbClr val="A78BFA"/>
                </a:solidFill>
              </a:rPr>
              <a:t>ToolRegistry</a:t>
            </a:r>
          </a:p>
        </p:txBody>
      </p:sp>
      <p:sp>
        <p:nvSpPr>
          <p:cNvPr id="20" name="TextBox 19"/>
          <p:cNvSpPr txBox="1"/>
          <p:nvPr/>
        </p:nvSpPr>
        <p:spPr>
          <a:xfrm>
            <a:off x="6318504" y="1874519"/>
            <a:ext cx="2624328" cy="2514600"/>
          </a:xfrm>
          <a:prstGeom prst="rect">
            <a:avLst/>
          </a:prstGeom>
          <a:noFill/>
        </p:spPr>
        <p:txBody>
          <a:bodyPr wrap="square">
            <a:spAutoFit/>
          </a:bodyPr>
          <a:lstStyle/>
          <a:p>
            <a:pPr algn="l"/>
            <a:r>
              <a:rPr sz="1050" b="0" i="0">
                <a:solidFill>
                  <a:srgbClr val="94A3B8"/>
                </a:solidFill>
              </a:rPr>
              <a:t>Central registry for all tools
registry.register(tool, category)
registry.get(name) → tool instance
registry.listTools() → all registered
Modelled after LangChain's tool store
but built for browser ES modules</a:t>
            </a:r>
          </a:p>
        </p:txBody>
      </p:sp>
      <p:sp>
        <p:nvSpPr>
          <p:cNvPr id="21" name="Rectangle 20"/>
          <p:cNvSpPr/>
          <p:nvPr/>
        </p:nvSpPr>
        <p:spPr>
          <a:xfrm>
            <a:off x="9153144" y="1298448"/>
            <a:ext cx="2788920" cy="320040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53144" y="1298448"/>
            <a:ext cx="278892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2872" y="1417320"/>
            <a:ext cx="2624328" cy="384048"/>
          </a:xfrm>
          <a:prstGeom prst="rect">
            <a:avLst/>
          </a:prstGeom>
          <a:noFill/>
        </p:spPr>
        <p:txBody>
          <a:bodyPr wrap="square">
            <a:spAutoFit/>
          </a:bodyPr>
          <a:lstStyle/>
          <a:p>
            <a:pPr algn="l"/>
            <a:r>
              <a:rPr sz="1400" b="1" i="0">
                <a:solidFill>
                  <a:srgbClr val="FBBF24"/>
                </a:solidFill>
              </a:rPr>
              <a:t>PipelineBuilder</a:t>
            </a:r>
          </a:p>
        </p:txBody>
      </p:sp>
      <p:sp>
        <p:nvSpPr>
          <p:cNvPr id="24" name="TextBox 23"/>
          <p:cNvSpPr txBox="1"/>
          <p:nvPr/>
        </p:nvSpPr>
        <p:spPr>
          <a:xfrm>
            <a:off x="9262872" y="1874519"/>
            <a:ext cx="2624328" cy="2514600"/>
          </a:xfrm>
          <a:prstGeom prst="rect">
            <a:avLst/>
          </a:prstGeom>
          <a:noFill/>
        </p:spPr>
        <p:txBody>
          <a:bodyPr wrap="square">
            <a:spAutoFit/>
          </a:bodyPr>
          <a:lstStyle/>
          <a:p>
            <a:pPr algn="l"/>
            <a:r>
              <a:rPr sz="1050" b="0" i="0">
                <a:solidFill>
                  <a:srgbClr val="94A3B8"/>
                </a:solidFill>
              </a:rPr>
              <a:t>Chains tools into a sequence
Supports parallel branches
Promise.allSettled for parallel runs
Feeds output of one tool into next
Controlled by PipelineConfig flags
(e.g. skipLinkScraping = true)</a:t>
            </a:r>
          </a:p>
        </p:txBody>
      </p:sp>
      <p:sp>
        <p:nvSpPr>
          <p:cNvPr id="25" name="TextBox 24"/>
          <p:cNvSpPr txBox="1"/>
          <p:nvPr/>
        </p:nvSpPr>
        <p:spPr>
          <a:xfrm>
            <a:off x="411480" y="4709160"/>
            <a:ext cx="10972800" cy="365760"/>
          </a:xfrm>
          <a:prstGeom prst="rect">
            <a:avLst/>
          </a:prstGeom>
          <a:noFill/>
        </p:spPr>
        <p:txBody>
          <a:bodyPr wrap="square">
            <a:spAutoFit/>
          </a:bodyPr>
          <a:lstStyle/>
          <a:p>
            <a:pPr algn="l"/>
            <a:r>
              <a:rPr sz="1400" b="1" i="0">
                <a:solidFill>
                  <a:srgbClr val="38BDF8"/>
                </a:solidFill>
              </a:rPr>
              <a:t>The 5 Tools Built and Registered</a:t>
            </a:r>
          </a:p>
        </p:txBody>
      </p:sp>
      <p:sp>
        <p:nvSpPr>
          <p:cNvPr id="26" name="Rectangle 25"/>
          <p:cNvSpPr/>
          <p:nvPr/>
        </p:nvSpPr>
        <p:spPr>
          <a:xfrm>
            <a:off x="320040" y="5120640"/>
            <a:ext cx="2240280" cy="148132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5120640"/>
            <a:ext cx="22402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5212080"/>
            <a:ext cx="2103120" cy="329184"/>
          </a:xfrm>
          <a:prstGeom prst="rect">
            <a:avLst/>
          </a:prstGeom>
          <a:noFill/>
        </p:spPr>
        <p:txBody>
          <a:bodyPr wrap="square">
            <a:spAutoFit/>
          </a:bodyPr>
          <a:lstStyle/>
          <a:p>
            <a:pPr algn="l"/>
            <a:r>
              <a:rPr sz="1100" b="1" i="0">
                <a:solidFill>
                  <a:srgbClr val="34D399"/>
                </a:solidFill>
              </a:rPr>
              <a:t>RoBERTaTool</a:t>
            </a:r>
          </a:p>
        </p:txBody>
      </p:sp>
      <p:sp>
        <p:nvSpPr>
          <p:cNvPr id="29" name="TextBox 28"/>
          <p:cNvSpPr txBox="1"/>
          <p:nvPr/>
        </p:nvSpPr>
        <p:spPr>
          <a:xfrm>
            <a:off x="411480" y="5559552"/>
            <a:ext cx="2103120" cy="1005840"/>
          </a:xfrm>
          <a:prstGeom prst="rect">
            <a:avLst/>
          </a:prstGeom>
          <a:noFill/>
        </p:spPr>
        <p:txBody>
          <a:bodyPr wrap="square">
            <a:spAutoFit/>
          </a:bodyPr>
          <a:lstStyle/>
          <a:p>
            <a:pPr algn="l"/>
            <a:r>
              <a:rPr sz="900" b="0" i="0">
                <a:solidFill>
                  <a:srgbClr val="94A3B8"/>
                </a:solidFill>
              </a:rPr>
              <a:t>Extends BaseTool
Calls HuggingFace Inference API
Model: aditya963/fraud-job-classifier
Builds [SEP]-delimited input text
Returns: fraud_probability + verdict</a:t>
            </a:r>
          </a:p>
        </p:txBody>
      </p:sp>
      <p:sp>
        <p:nvSpPr>
          <p:cNvPr id="30" name="Rectangle 29"/>
          <p:cNvSpPr/>
          <p:nvPr/>
        </p:nvSpPr>
        <p:spPr>
          <a:xfrm>
            <a:off x="2697480" y="5120640"/>
            <a:ext cx="2240280" cy="148132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97480" y="5120640"/>
            <a:ext cx="22402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8920" y="5212080"/>
            <a:ext cx="2103120" cy="329184"/>
          </a:xfrm>
          <a:prstGeom prst="rect">
            <a:avLst/>
          </a:prstGeom>
          <a:noFill/>
        </p:spPr>
        <p:txBody>
          <a:bodyPr wrap="square">
            <a:spAutoFit/>
          </a:bodyPr>
          <a:lstStyle/>
          <a:p>
            <a:pPr algn="l"/>
            <a:r>
              <a:rPr sz="1100" b="1" i="0">
                <a:solidFill>
                  <a:srgbClr val="38BDF8"/>
                </a:solidFill>
              </a:rPr>
              <a:t>DetectLinksTool</a:t>
            </a:r>
          </a:p>
        </p:txBody>
      </p:sp>
      <p:sp>
        <p:nvSpPr>
          <p:cNvPr id="33" name="TextBox 32"/>
          <p:cNvSpPr txBox="1"/>
          <p:nvPr/>
        </p:nvSpPr>
        <p:spPr>
          <a:xfrm>
            <a:off x="2788920" y="5559552"/>
            <a:ext cx="2103120" cy="1005840"/>
          </a:xfrm>
          <a:prstGeom prst="rect">
            <a:avLst/>
          </a:prstGeom>
          <a:noFill/>
        </p:spPr>
        <p:txBody>
          <a:bodyPr wrap="square">
            <a:spAutoFit/>
          </a:bodyPr>
          <a:lstStyle/>
          <a:p>
            <a:pPr algn="l"/>
            <a:r>
              <a:rPr sz="900" b="0" i="0">
                <a:solidFill>
                  <a:srgbClr val="94A3B8"/>
                </a:solidFill>
              </a:rPr>
              <a:t>Regex scan of job description
Finds: company URLs, social links
Filters: known CDNs + LinkedIn itself
Returns: array of URLs to scrape</a:t>
            </a:r>
          </a:p>
        </p:txBody>
      </p:sp>
      <p:sp>
        <p:nvSpPr>
          <p:cNvPr id="34" name="Rectangle 33"/>
          <p:cNvSpPr/>
          <p:nvPr/>
        </p:nvSpPr>
        <p:spPr>
          <a:xfrm>
            <a:off x="5074920" y="5120640"/>
            <a:ext cx="2240280" cy="148132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74920" y="5120640"/>
            <a:ext cx="22402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6360" y="5212080"/>
            <a:ext cx="2103120" cy="329184"/>
          </a:xfrm>
          <a:prstGeom prst="rect">
            <a:avLst/>
          </a:prstGeom>
          <a:noFill/>
        </p:spPr>
        <p:txBody>
          <a:bodyPr wrap="square">
            <a:spAutoFit/>
          </a:bodyPr>
          <a:lstStyle/>
          <a:p>
            <a:pPr algn="l"/>
            <a:r>
              <a:rPr sz="1100" b="1" i="0">
                <a:solidFill>
                  <a:srgbClr val="38BDF8"/>
                </a:solidFill>
              </a:rPr>
              <a:t>LinkScraperTool</a:t>
            </a:r>
          </a:p>
        </p:txBody>
      </p:sp>
      <p:sp>
        <p:nvSpPr>
          <p:cNvPr id="37" name="TextBox 36"/>
          <p:cNvSpPr txBox="1"/>
          <p:nvPr/>
        </p:nvSpPr>
        <p:spPr>
          <a:xfrm>
            <a:off x="5166360" y="5559552"/>
            <a:ext cx="2103120" cy="1005840"/>
          </a:xfrm>
          <a:prstGeom prst="rect">
            <a:avLst/>
          </a:prstGeom>
          <a:noFill/>
        </p:spPr>
        <p:txBody>
          <a:bodyPr wrap="square">
            <a:spAutoFit/>
          </a:bodyPr>
          <a:lstStyle/>
          <a:p>
            <a:pPr algn="l"/>
            <a:r>
              <a:rPr sz="900" b="0" i="0">
                <a:solidFill>
                  <a:srgbClr val="94A3B8"/>
                </a:solidFill>
              </a:rPr>
              <a:t>fetch() each discovered URL
Extracts visible text content
Strips HTML, scripts, nav elements
Returns: scraped text per URL</a:t>
            </a:r>
          </a:p>
        </p:txBody>
      </p:sp>
      <p:sp>
        <p:nvSpPr>
          <p:cNvPr id="38" name="Rectangle 37"/>
          <p:cNvSpPr/>
          <p:nvPr/>
        </p:nvSpPr>
        <p:spPr>
          <a:xfrm>
            <a:off x="7452360" y="5120640"/>
            <a:ext cx="2240280" cy="148132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52360" y="5120640"/>
            <a:ext cx="22402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43800" y="5212080"/>
            <a:ext cx="2103120" cy="329184"/>
          </a:xfrm>
          <a:prstGeom prst="rect">
            <a:avLst/>
          </a:prstGeom>
          <a:noFill/>
        </p:spPr>
        <p:txBody>
          <a:bodyPr wrap="square">
            <a:spAutoFit/>
          </a:bodyPr>
          <a:lstStyle/>
          <a:p>
            <a:pPr algn="l"/>
            <a:r>
              <a:rPr sz="1100" b="1" i="0">
                <a:solidFill>
                  <a:srgbClr val="A78BFA"/>
                </a:solidFill>
              </a:rPr>
              <a:t>ContentAggregatorTool</a:t>
            </a:r>
          </a:p>
        </p:txBody>
      </p:sp>
      <p:sp>
        <p:nvSpPr>
          <p:cNvPr id="41" name="TextBox 40"/>
          <p:cNvSpPr txBox="1"/>
          <p:nvPr/>
        </p:nvSpPr>
        <p:spPr>
          <a:xfrm>
            <a:off x="7543800" y="5559552"/>
            <a:ext cx="2103120" cy="1005840"/>
          </a:xfrm>
          <a:prstGeom prst="rect">
            <a:avLst/>
          </a:prstGeom>
          <a:noFill/>
        </p:spPr>
        <p:txBody>
          <a:bodyPr wrap="square">
            <a:spAutoFit/>
          </a:bodyPr>
          <a:lstStyle/>
          <a:p>
            <a:pPr algn="l"/>
            <a:r>
              <a:rPr sz="900" b="0" i="0">
                <a:solidFill>
                  <a:srgbClr val="94A3B8"/>
                </a:solidFill>
              </a:rPr>
              <a:t>Merges all scraped text blobs
Adds RoBERTa score to context
Produces one unified string
Input to the LLM analyzer</a:t>
            </a:r>
          </a:p>
        </p:txBody>
      </p:sp>
      <p:sp>
        <p:nvSpPr>
          <p:cNvPr id="42" name="Rectangle 41"/>
          <p:cNvSpPr/>
          <p:nvPr/>
        </p:nvSpPr>
        <p:spPr>
          <a:xfrm>
            <a:off x="9829800" y="5120640"/>
            <a:ext cx="2240280" cy="1481328"/>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829800" y="5120640"/>
            <a:ext cx="2240280" cy="45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21240" y="5212080"/>
            <a:ext cx="2103120" cy="329184"/>
          </a:xfrm>
          <a:prstGeom prst="rect">
            <a:avLst/>
          </a:prstGeom>
          <a:noFill/>
        </p:spPr>
        <p:txBody>
          <a:bodyPr wrap="square">
            <a:spAutoFit/>
          </a:bodyPr>
          <a:lstStyle/>
          <a:p>
            <a:pPr algn="l"/>
            <a:r>
              <a:rPr sz="1100" b="1" i="0">
                <a:solidFill>
                  <a:srgbClr val="FBBF24"/>
                </a:solidFill>
              </a:rPr>
              <a:t>JobAnalyzerTool</a:t>
            </a:r>
          </a:p>
        </p:txBody>
      </p:sp>
      <p:sp>
        <p:nvSpPr>
          <p:cNvPr id="45" name="TextBox 44"/>
          <p:cNvSpPr txBox="1"/>
          <p:nvPr/>
        </p:nvSpPr>
        <p:spPr>
          <a:xfrm>
            <a:off x="9921240" y="5559552"/>
            <a:ext cx="2103120" cy="1005840"/>
          </a:xfrm>
          <a:prstGeom prst="rect">
            <a:avLst/>
          </a:prstGeom>
          <a:noFill/>
        </p:spPr>
        <p:txBody>
          <a:bodyPr wrap="square">
            <a:spAutoFit/>
          </a:bodyPr>
          <a:lstStyle/>
          <a:p>
            <a:pPr algn="l"/>
            <a:r>
              <a:rPr sz="900" b="0" i="0">
                <a:solidFill>
                  <a:srgbClr val="94A3B8"/>
                </a:solidFill>
              </a:rPr>
              <a:t>Calls Google Gemini 2.5-Flash
System prompt: fraud detection expert
Context: job text + score + links
Returns: SAFE / SUSPICIOUS / FAKE
+ full reasoning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Why Build Version 2?</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v1 called Gemini directly with no tool calling — v2 introduced 13 purpose-built investigation tools via a deployed backend</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3566160" cy="521208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3566160" cy="6400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3383280" cy="411480"/>
          </a:xfrm>
          <a:prstGeom prst="rect">
            <a:avLst/>
          </a:prstGeom>
          <a:noFill/>
        </p:spPr>
        <p:txBody>
          <a:bodyPr wrap="square">
            <a:spAutoFit/>
          </a:bodyPr>
          <a:lstStyle/>
          <a:p>
            <a:pPr algn="l"/>
            <a:r>
              <a:rPr sz="1400" b="1" i="0">
                <a:solidFill>
                  <a:srgbClr val="F87171"/>
                </a:solidFill>
              </a:rPr>
              <a:t>V1 — What Was Missing</a:t>
            </a:r>
          </a:p>
        </p:txBody>
      </p:sp>
      <p:sp>
        <p:nvSpPr>
          <p:cNvPr id="10" name="Rectangle 9"/>
          <p:cNvSpPr/>
          <p:nvPr/>
        </p:nvSpPr>
        <p:spPr>
          <a:xfrm>
            <a:off x="502920" y="2057400"/>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02536"/>
            <a:ext cx="3035808" cy="594360"/>
          </a:xfrm>
          <a:prstGeom prst="rect">
            <a:avLst/>
          </a:prstGeom>
          <a:noFill/>
        </p:spPr>
        <p:txBody>
          <a:bodyPr wrap="square">
            <a:spAutoFit/>
          </a:bodyPr>
          <a:lstStyle/>
          <a:p>
            <a:pPr algn="l"/>
            <a:r>
              <a:rPr sz="1100" b="0" i="0">
                <a:solidFill>
                  <a:srgbClr val="94A3B8"/>
                </a:solidFill>
              </a:rPr>
              <a:t>Called Gemini directly with raw job text</a:t>
            </a:r>
          </a:p>
        </p:txBody>
      </p:sp>
      <p:sp>
        <p:nvSpPr>
          <p:cNvPr id="12" name="Rectangle 11"/>
          <p:cNvSpPr/>
          <p:nvPr/>
        </p:nvSpPr>
        <p:spPr>
          <a:xfrm>
            <a:off x="502920" y="2807208"/>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52344"/>
            <a:ext cx="3035808" cy="594360"/>
          </a:xfrm>
          <a:prstGeom prst="rect">
            <a:avLst/>
          </a:prstGeom>
          <a:noFill/>
        </p:spPr>
        <p:txBody>
          <a:bodyPr wrap="square">
            <a:spAutoFit/>
          </a:bodyPr>
          <a:lstStyle/>
          <a:p>
            <a:pPr algn="l"/>
            <a:r>
              <a:rPr sz="1100" b="0" i="0">
                <a:solidFill>
                  <a:srgbClr val="94A3B8"/>
                </a:solidFill>
              </a:rPr>
              <a:t>No structured tool calls — just one LLM prompt</a:t>
            </a:r>
          </a:p>
        </p:txBody>
      </p:sp>
      <p:sp>
        <p:nvSpPr>
          <p:cNvPr id="14" name="Rectangle 13"/>
          <p:cNvSpPr/>
          <p:nvPr/>
        </p:nvSpPr>
        <p:spPr>
          <a:xfrm>
            <a:off x="502920" y="3557016"/>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02152"/>
            <a:ext cx="3035808" cy="594360"/>
          </a:xfrm>
          <a:prstGeom prst="rect">
            <a:avLst/>
          </a:prstGeom>
          <a:noFill/>
        </p:spPr>
        <p:txBody>
          <a:bodyPr wrap="square">
            <a:spAutoFit/>
          </a:bodyPr>
          <a:lstStyle/>
          <a:p>
            <a:pPr algn="l"/>
            <a:r>
              <a:rPr sz="1100" b="0" i="0">
                <a:solidFill>
                  <a:srgbClr val="94A3B8"/>
                </a:solidFill>
              </a:rPr>
              <a:t>Gemini had to guess company legitimacy with no data</a:t>
            </a:r>
          </a:p>
        </p:txBody>
      </p:sp>
      <p:sp>
        <p:nvSpPr>
          <p:cNvPr id="16" name="Rectangle 15"/>
          <p:cNvSpPr/>
          <p:nvPr/>
        </p:nvSpPr>
        <p:spPr>
          <a:xfrm>
            <a:off x="502920" y="4306824"/>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51960"/>
            <a:ext cx="3035808" cy="594360"/>
          </a:xfrm>
          <a:prstGeom prst="rect">
            <a:avLst/>
          </a:prstGeom>
          <a:noFill/>
        </p:spPr>
        <p:txBody>
          <a:bodyPr wrap="square">
            <a:spAutoFit/>
          </a:bodyPr>
          <a:lstStyle/>
          <a:p>
            <a:pPr algn="l"/>
            <a:r>
              <a:rPr sz="1100" b="0" i="0">
                <a:solidFill>
                  <a:srgbClr val="94A3B8"/>
                </a:solidFill>
              </a:rPr>
              <a:t>No domain lookup, no WHOIS, no social check</a:t>
            </a:r>
          </a:p>
        </p:txBody>
      </p:sp>
      <p:sp>
        <p:nvSpPr>
          <p:cNvPr id="18" name="Rectangle 17"/>
          <p:cNvSpPr/>
          <p:nvPr/>
        </p:nvSpPr>
        <p:spPr>
          <a:xfrm>
            <a:off x="502920" y="5056632"/>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01768"/>
            <a:ext cx="3035808" cy="594360"/>
          </a:xfrm>
          <a:prstGeom prst="rect">
            <a:avLst/>
          </a:prstGeom>
          <a:noFill/>
        </p:spPr>
        <p:txBody>
          <a:bodyPr wrap="square">
            <a:spAutoFit/>
          </a:bodyPr>
          <a:lstStyle/>
          <a:p>
            <a:pPr algn="l"/>
            <a:r>
              <a:rPr sz="1100" b="0" i="0">
                <a:solidFill>
                  <a:srgbClr val="94A3B8"/>
                </a:solidFill>
              </a:rPr>
              <a:t>Only 5 internal tools, all browser-side</a:t>
            </a:r>
          </a:p>
        </p:txBody>
      </p:sp>
      <p:sp>
        <p:nvSpPr>
          <p:cNvPr id="20" name="Rectangle 19"/>
          <p:cNvSpPr/>
          <p:nvPr/>
        </p:nvSpPr>
        <p:spPr>
          <a:xfrm>
            <a:off x="502920" y="5806440"/>
            <a:ext cx="18288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751576"/>
            <a:ext cx="3035808" cy="594360"/>
          </a:xfrm>
          <a:prstGeom prst="rect">
            <a:avLst/>
          </a:prstGeom>
          <a:noFill/>
        </p:spPr>
        <p:txBody>
          <a:bodyPr wrap="square">
            <a:spAutoFit/>
          </a:bodyPr>
          <a:lstStyle/>
          <a:p>
            <a:pPr algn="l"/>
            <a:r>
              <a:rPr sz="1100" b="0" i="0">
                <a:solidFill>
                  <a:srgbClr val="94A3B8"/>
                </a:solidFill>
              </a:rPr>
              <a:t>No deployed model or backend infrastructure</a:t>
            </a:r>
          </a:p>
        </p:txBody>
      </p:sp>
      <p:sp>
        <p:nvSpPr>
          <p:cNvPr id="22" name="Rectangle 21"/>
          <p:cNvSpPr/>
          <p:nvPr/>
        </p:nvSpPr>
        <p:spPr>
          <a:xfrm>
            <a:off x="4297680" y="1280160"/>
            <a:ext cx="3566160" cy="521208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1280160"/>
            <a:ext cx="356616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1417320"/>
            <a:ext cx="3383280" cy="411480"/>
          </a:xfrm>
          <a:prstGeom prst="rect">
            <a:avLst/>
          </a:prstGeom>
          <a:noFill/>
        </p:spPr>
        <p:txBody>
          <a:bodyPr wrap="square">
            <a:spAutoFit/>
          </a:bodyPr>
          <a:lstStyle/>
          <a:p>
            <a:pPr algn="l"/>
            <a:r>
              <a:rPr sz="1400" b="1" i="0">
                <a:solidFill>
                  <a:srgbClr val="FBBF24"/>
                </a:solidFill>
              </a:rPr>
              <a:t>What We Built for V2</a:t>
            </a:r>
          </a:p>
        </p:txBody>
      </p:sp>
      <p:sp>
        <p:nvSpPr>
          <p:cNvPr id="25" name="Rectangle 24"/>
          <p:cNvSpPr/>
          <p:nvPr/>
        </p:nvSpPr>
        <p:spPr>
          <a:xfrm>
            <a:off x="4434840" y="2057400"/>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2002536"/>
            <a:ext cx="3035808" cy="594360"/>
          </a:xfrm>
          <a:prstGeom prst="rect">
            <a:avLst/>
          </a:prstGeom>
          <a:noFill/>
        </p:spPr>
        <p:txBody>
          <a:bodyPr wrap="square">
            <a:spAutoFit/>
          </a:bodyPr>
          <a:lstStyle/>
          <a:p>
            <a:pPr algn="l"/>
            <a:r>
              <a:rPr sz="1100" b="0" i="0">
                <a:solidFill>
                  <a:srgbClr val="94A3B8"/>
                </a:solidFill>
              </a:rPr>
              <a:t>Deployed FastAPI backend on HuggingFace Spaces</a:t>
            </a:r>
          </a:p>
        </p:txBody>
      </p:sp>
      <p:sp>
        <p:nvSpPr>
          <p:cNvPr id="27" name="Rectangle 26"/>
          <p:cNvSpPr/>
          <p:nvPr/>
        </p:nvSpPr>
        <p:spPr>
          <a:xfrm>
            <a:off x="4434840" y="2807208"/>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2752344"/>
            <a:ext cx="3035808" cy="594360"/>
          </a:xfrm>
          <a:prstGeom prst="rect">
            <a:avLst/>
          </a:prstGeom>
          <a:noFill/>
        </p:spPr>
        <p:txBody>
          <a:bodyPr wrap="square">
            <a:spAutoFit/>
          </a:bodyPr>
          <a:lstStyle/>
          <a:p>
            <a:pPr algn="l"/>
            <a:r>
              <a:rPr sz="1100" b="0" i="0">
                <a:solidFill>
                  <a:srgbClr val="94A3B8"/>
                </a:solidFill>
              </a:rPr>
              <a:t>Built 13 specialised investigation tools server-side</a:t>
            </a:r>
          </a:p>
        </p:txBody>
      </p:sp>
      <p:sp>
        <p:nvSpPr>
          <p:cNvPr id="29" name="Rectangle 28"/>
          <p:cNvSpPr/>
          <p:nvPr/>
        </p:nvSpPr>
        <p:spPr>
          <a:xfrm>
            <a:off x="4434840" y="3557016"/>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3502152"/>
            <a:ext cx="3035808" cy="594360"/>
          </a:xfrm>
          <a:prstGeom prst="rect">
            <a:avLst/>
          </a:prstGeom>
          <a:noFill/>
        </p:spPr>
        <p:txBody>
          <a:bodyPr wrap="square">
            <a:spAutoFit/>
          </a:bodyPr>
          <a:lstStyle/>
          <a:p>
            <a:pPr algn="l"/>
            <a:r>
              <a:rPr sz="1100" b="0" i="0">
                <a:solidFill>
                  <a:srgbClr val="94A3B8"/>
                </a:solidFill>
              </a:rPr>
              <a:t>Deployed RoBERTa fraud classifier as a dedicated model</a:t>
            </a:r>
          </a:p>
        </p:txBody>
      </p:sp>
      <p:sp>
        <p:nvSpPr>
          <p:cNvPr id="31" name="Rectangle 30"/>
          <p:cNvSpPr/>
          <p:nvPr/>
        </p:nvSpPr>
        <p:spPr>
          <a:xfrm>
            <a:off x="4434840" y="4306824"/>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0" y="4251960"/>
            <a:ext cx="3035808" cy="594360"/>
          </a:xfrm>
          <a:prstGeom prst="rect">
            <a:avLst/>
          </a:prstGeom>
          <a:noFill/>
        </p:spPr>
        <p:txBody>
          <a:bodyPr wrap="square">
            <a:spAutoFit/>
          </a:bodyPr>
          <a:lstStyle/>
          <a:p>
            <a:pPr algn="l"/>
            <a:r>
              <a:rPr sz="1100" b="0" i="0">
                <a:solidFill>
                  <a:srgbClr val="94A3B8"/>
                </a:solidFill>
              </a:rPr>
              <a:t>Single batch API call runs all 13 tools in parallel</a:t>
            </a:r>
          </a:p>
        </p:txBody>
      </p:sp>
      <p:sp>
        <p:nvSpPr>
          <p:cNvPr id="33" name="Rectangle 32"/>
          <p:cNvSpPr/>
          <p:nvPr/>
        </p:nvSpPr>
        <p:spPr>
          <a:xfrm>
            <a:off x="4434840" y="5056632"/>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0" y="5001768"/>
            <a:ext cx="3035808" cy="594360"/>
          </a:xfrm>
          <a:prstGeom prst="rect">
            <a:avLst/>
          </a:prstGeom>
          <a:noFill/>
        </p:spPr>
        <p:txBody>
          <a:bodyPr wrap="square">
            <a:spAutoFit/>
          </a:bodyPr>
          <a:lstStyle/>
          <a:p>
            <a:pPr algn="l"/>
            <a:r>
              <a:rPr sz="1100" b="0" i="0">
                <a:solidFill>
                  <a:srgbClr val="94A3B8"/>
                </a:solidFill>
              </a:rPr>
              <a:t>LLM now receives structured evidence from every tool</a:t>
            </a:r>
          </a:p>
        </p:txBody>
      </p:sp>
      <p:sp>
        <p:nvSpPr>
          <p:cNvPr id="35" name="Rectangle 34"/>
          <p:cNvSpPr/>
          <p:nvPr/>
        </p:nvSpPr>
        <p:spPr>
          <a:xfrm>
            <a:off x="4434840" y="5806440"/>
            <a:ext cx="18288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0" y="5751576"/>
            <a:ext cx="3035808" cy="594360"/>
          </a:xfrm>
          <a:prstGeom prst="rect">
            <a:avLst/>
          </a:prstGeom>
          <a:noFill/>
        </p:spPr>
        <p:txBody>
          <a:bodyPr wrap="square">
            <a:spAutoFit/>
          </a:bodyPr>
          <a:lstStyle/>
          <a:p>
            <a:pPr algn="l"/>
            <a:r>
              <a:rPr sz="1100" b="0" i="0">
                <a:solidFill>
                  <a:srgbClr val="94A3B8"/>
                </a:solidFill>
              </a:rPr>
              <a:t>Backend shared with the web-app frontend</a:t>
            </a:r>
          </a:p>
        </p:txBody>
      </p:sp>
      <p:sp>
        <p:nvSpPr>
          <p:cNvPr id="37" name="Rectangle 36"/>
          <p:cNvSpPr/>
          <p:nvPr/>
        </p:nvSpPr>
        <p:spPr>
          <a:xfrm>
            <a:off x="8229600" y="1280160"/>
            <a:ext cx="3566160" cy="521208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9600" y="1280160"/>
            <a:ext cx="3566160" cy="6400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66760" y="1417320"/>
            <a:ext cx="3383280" cy="411480"/>
          </a:xfrm>
          <a:prstGeom prst="rect">
            <a:avLst/>
          </a:prstGeom>
          <a:noFill/>
        </p:spPr>
        <p:txBody>
          <a:bodyPr wrap="square">
            <a:spAutoFit/>
          </a:bodyPr>
          <a:lstStyle/>
          <a:p>
            <a:pPr algn="l"/>
            <a:r>
              <a:rPr sz="1400" b="1" i="0">
                <a:solidFill>
                  <a:srgbClr val="34D399"/>
                </a:solidFill>
              </a:rPr>
              <a:t>V2 — What Improved</a:t>
            </a:r>
          </a:p>
        </p:txBody>
      </p:sp>
      <p:sp>
        <p:nvSpPr>
          <p:cNvPr id="40" name="Rectangle 39"/>
          <p:cNvSpPr/>
          <p:nvPr/>
        </p:nvSpPr>
        <p:spPr>
          <a:xfrm>
            <a:off x="8366760" y="2057400"/>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0" y="2002536"/>
            <a:ext cx="3035808" cy="594360"/>
          </a:xfrm>
          <a:prstGeom prst="rect">
            <a:avLst/>
          </a:prstGeom>
          <a:noFill/>
        </p:spPr>
        <p:txBody>
          <a:bodyPr wrap="square">
            <a:spAutoFit/>
          </a:bodyPr>
          <a:lstStyle/>
          <a:p>
            <a:pPr algn="l"/>
            <a:r>
              <a:rPr sz="1100" b="0" i="0">
                <a:solidFill>
                  <a:srgbClr val="94A3B8"/>
                </a:solidFill>
              </a:rPr>
              <a:t>LLM verdict backed by real data: WHOIS, news, social</a:t>
            </a:r>
          </a:p>
        </p:txBody>
      </p:sp>
      <p:sp>
        <p:nvSpPr>
          <p:cNvPr id="42" name="Rectangle 41"/>
          <p:cNvSpPr/>
          <p:nvPr/>
        </p:nvSpPr>
        <p:spPr>
          <a:xfrm>
            <a:off x="8366760" y="2807208"/>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0" y="2752344"/>
            <a:ext cx="3035808" cy="594360"/>
          </a:xfrm>
          <a:prstGeom prst="rect">
            <a:avLst/>
          </a:prstGeom>
          <a:noFill/>
        </p:spPr>
        <p:txBody>
          <a:bodyPr wrap="square">
            <a:spAutoFit/>
          </a:bodyPr>
          <a:lstStyle/>
          <a:p>
            <a:pPr algn="l"/>
            <a:r>
              <a:rPr sz="1100" b="0" i="0">
                <a:solidFill>
                  <a:srgbClr val="94A3B8"/>
                </a:solidFill>
              </a:rPr>
              <a:t>13 tools vs 5 — far richer multi-signal coverage</a:t>
            </a:r>
          </a:p>
        </p:txBody>
      </p:sp>
      <p:sp>
        <p:nvSpPr>
          <p:cNvPr id="44" name="Rectangle 43"/>
          <p:cNvSpPr/>
          <p:nvPr/>
        </p:nvSpPr>
        <p:spPr>
          <a:xfrm>
            <a:off x="8366760" y="3557016"/>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0" y="3502152"/>
            <a:ext cx="3035808" cy="594360"/>
          </a:xfrm>
          <a:prstGeom prst="rect">
            <a:avLst/>
          </a:prstGeom>
          <a:noFill/>
        </p:spPr>
        <p:txBody>
          <a:bodyPr wrap="square">
            <a:spAutoFit/>
          </a:bodyPr>
          <a:lstStyle/>
          <a:p>
            <a:pPr algn="l"/>
            <a:r>
              <a:rPr sz="1100" b="0" i="0">
                <a:solidFill>
                  <a:srgbClr val="94A3B8"/>
                </a:solidFill>
              </a:rPr>
              <a:t>RoBERTa + domain + social + job boards + Wikipedia</a:t>
            </a:r>
          </a:p>
        </p:txBody>
      </p:sp>
      <p:sp>
        <p:nvSpPr>
          <p:cNvPr id="46" name="Rectangle 45"/>
          <p:cNvSpPr/>
          <p:nvPr/>
        </p:nvSpPr>
        <p:spPr>
          <a:xfrm>
            <a:off x="8366760" y="4306824"/>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0" y="4251960"/>
            <a:ext cx="3035808" cy="594360"/>
          </a:xfrm>
          <a:prstGeom prst="rect">
            <a:avLst/>
          </a:prstGeom>
          <a:noFill/>
        </p:spPr>
        <p:txBody>
          <a:bodyPr wrap="square">
            <a:spAutoFit/>
          </a:bodyPr>
          <a:lstStyle/>
          <a:p>
            <a:pPr algn="l"/>
            <a:r>
              <a:rPr sz="1100" b="0" i="0">
                <a:solidFill>
                  <a:srgbClr val="94A3B8"/>
                </a:solidFill>
              </a:rPr>
              <a:t>Weighted heuristic fallback if LLM unavailable</a:t>
            </a:r>
          </a:p>
        </p:txBody>
      </p:sp>
      <p:sp>
        <p:nvSpPr>
          <p:cNvPr id="48" name="Rectangle 47"/>
          <p:cNvSpPr/>
          <p:nvPr/>
        </p:nvSpPr>
        <p:spPr>
          <a:xfrm>
            <a:off x="8366760" y="5056632"/>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0" y="5001768"/>
            <a:ext cx="3035808" cy="594360"/>
          </a:xfrm>
          <a:prstGeom prst="rect">
            <a:avLst/>
          </a:prstGeom>
          <a:noFill/>
        </p:spPr>
        <p:txBody>
          <a:bodyPr wrap="square">
            <a:spAutoFit/>
          </a:bodyPr>
          <a:lstStyle/>
          <a:p>
            <a:pPr algn="l"/>
            <a:r>
              <a:rPr sz="1100" b="0" i="0">
                <a:solidFill>
                  <a:srgbClr val="94A3B8"/>
                </a:solidFill>
              </a:rPr>
              <a:t>Tool updates deploy via backend — no extension update</a:t>
            </a:r>
          </a:p>
        </p:txBody>
      </p:sp>
      <p:sp>
        <p:nvSpPr>
          <p:cNvPr id="50" name="Rectangle 49"/>
          <p:cNvSpPr/>
          <p:nvPr/>
        </p:nvSpPr>
        <p:spPr>
          <a:xfrm>
            <a:off x="8366760" y="5806440"/>
            <a:ext cx="182880" cy="182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86800" y="5751576"/>
            <a:ext cx="3035808" cy="594360"/>
          </a:xfrm>
          <a:prstGeom prst="rect">
            <a:avLst/>
          </a:prstGeom>
          <a:noFill/>
        </p:spPr>
        <p:txBody>
          <a:bodyPr wrap="square">
            <a:spAutoFit/>
          </a:bodyPr>
          <a:lstStyle/>
          <a:p>
            <a:pPr algn="l"/>
            <a:r>
              <a:rPr sz="1100" b="0" i="0">
                <a:solidFill>
                  <a:srgbClr val="94A3B8"/>
                </a:solidFill>
              </a:rPr>
              <a:t>Consistent analysis across extension and web-app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Version 2 — Architecture</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All API calls live in content.js · The service worker is a 5-line stub</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V2</a:t>
            </a:r>
          </a:p>
        </p:txBody>
      </p:sp>
      <p:sp>
        <p:nvSpPr>
          <p:cNvPr id="9" name="Rectangle 8"/>
          <p:cNvSpPr/>
          <p:nvPr/>
        </p:nvSpPr>
        <p:spPr>
          <a:xfrm>
            <a:off x="7955279" y="1298448"/>
            <a:ext cx="4114800" cy="16459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371600"/>
            <a:ext cx="3840480" cy="320040"/>
          </a:xfrm>
          <a:prstGeom prst="rect">
            <a:avLst/>
          </a:prstGeom>
          <a:noFill/>
        </p:spPr>
        <p:txBody>
          <a:bodyPr wrap="square">
            <a:spAutoFit/>
          </a:bodyPr>
          <a:lstStyle/>
          <a:p>
            <a:pPr algn="l"/>
            <a:r>
              <a:rPr sz="1200" b="1" i="0">
                <a:solidFill>
                  <a:srgbClr val="38BDF8"/>
                </a:solidFill>
              </a:rPr>
              <a:t>Deployed Services</a:t>
            </a:r>
          </a:p>
        </p:txBody>
      </p:sp>
      <p:sp>
        <p:nvSpPr>
          <p:cNvPr id="11" name="TextBox 10"/>
          <p:cNvSpPr txBox="1"/>
          <p:nvPr/>
        </p:nvSpPr>
        <p:spPr>
          <a:xfrm>
            <a:off x="8138160" y="1719072"/>
            <a:ext cx="1371600" cy="320040"/>
          </a:xfrm>
          <a:prstGeom prst="rect">
            <a:avLst/>
          </a:prstGeom>
          <a:noFill/>
        </p:spPr>
        <p:txBody>
          <a:bodyPr wrap="square">
            <a:spAutoFit/>
          </a:bodyPr>
          <a:lstStyle/>
          <a:p>
            <a:pPr algn="l"/>
            <a:r>
              <a:rPr sz="1000" b="1" i="0">
                <a:solidFill>
                  <a:srgbClr val="38BDF8"/>
                </a:solidFill>
              </a:rPr>
              <a:t>● Backend API</a:t>
            </a:r>
          </a:p>
        </p:txBody>
      </p:sp>
      <p:sp>
        <p:nvSpPr>
          <p:cNvPr id="12" name="TextBox 11"/>
          <p:cNvSpPr txBox="1"/>
          <p:nvPr/>
        </p:nvSpPr>
        <p:spPr>
          <a:xfrm>
            <a:off x="9601200" y="1719072"/>
            <a:ext cx="2286000" cy="320040"/>
          </a:xfrm>
          <a:prstGeom prst="rect">
            <a:avLst/>
          </a:prstGeom>
          <a:noFill/>
        </p:spPr>
        <p:txBody>
          <a:bodyPr wrap="square">
            <a:spAutoFit/>
          </a:bodyPr>
          <a:lstStyle/>
          <a:p>
            <a:pPr algn="l"/>
            <a:r>
              <a:rPr sz="900" b="0" i="0">
                <a:solidFill>
                  <a:srgbClr val="94A3B8"/>
                </a:solidFill>
              </a:rPr>
              <a:t>hrmhrmhrm-company-backend-api.hf.space</a:t>
            </a:r>
          </a:p>
        </p:txBody>
      </p:sp>
      <p:sp>
        <p:nvSpPr>
          <p:cNvPr id="13" name="TextBox 12"/>
          <p:cNvSpPr txBox="1"/>
          <p:nvPr/>
        </p:nvSpPr>
        <p:spPr>
          <a:xfrm>
            <a:off x="8138160" y="2103120"/>
            <a:ext cx="1371600" cy="320040"/>
          </a:xfrm>
          <a:prstGeom prst="rect">
            <a:avLst/>
          </a:prstGeom>
          <a:noFill/>
        </p:spPr>
        <p:txBody>
          <a:bodyPr wrap="square">
            <a:spAutoFit/>
          </a:bodyPr>
          <a:lstStyle/>
          <a:p>
            <a:pPr algn="l"/>
            <a:r>
              <a:rPr sz="1000" b="1" i="0">
                <a:solidFill>
                  <a:srgbClr val="34D399"/>
                </a:solidFill>
              </a:rPr>
              <a:t>● RoBERTa Model</a:t>
            </a:r>
          </a:p>
        </p:txBody>
      </p:sp>
      <p:sp>
        <p:nvSpPr>
          <p:cNvPr id="14" name="TextBox 13"/>
          <p:cNvSpPr txBox="1"/>
          <p:nvPr/>
        </p:nvSpPr>
        <p:spPr>
          <a:xfrm>
            <a:off x="9601200" y="2103120"/>
            <a:ext cx="2286000" cy="320040"/>
          </a:xfrm>
          <a:prstGeom prst="rect">
            <a:avLst/>
          </a:prstGeom>
          <a:noFill/>
        </p:spPr>
        <p:txBody>
          <a:bodyPr wrap="square">
            <a:spAutoFit/>
          </a:bodyPr>
          <a:lstStyle/>
          <a:p>
            <a:pPr algn="l"/>
            <a:r>
              <a:rPr sz="900" b="0" i="0">
                <a:solidFill>
                  <a:srgbClr val="94A3B8"/>
                </a:solidFill>
              </a:rPr>
              <a:t>hrmhrmhrm-roberta-model.hf.space</a:t>
            </a:r>
          </a:p>
        </p:txBody>
      </p:sp>
      <p:sp>
        <p:nvSpPr>
          <p:cNvPr id="15" name="TextBox 14"/>
          <p:cNvSpPr txBox="1"/>
          <p:nvPr/>
        </p:nvSpPr>
        <p:spPr>
          <a:xfrm>
            <a:off x="8138160" y="2487168"/>
            <a:ext cx="1371600" cy="320040"/>
          </a:xfrm>
          <a:prstGeom prst="rect">
            <a:avLst/>
          </a:prstGeom>
          <a:noFill/>
        </p:spPr>
        <p:txBody>
          <a:bodyPr wrap="square">
            <a:spAutoFit/>
          </a:bodyPr>
          <a:lstStyle/>
          <a:p>
            <a:pPr algn="l"/>
            <a:r>
              <a:rPr sz="1000" b="1" i="0">
                <a:solidFill>
                  <a:srgbClr val="A78BFA"/>
                </a:solidFill>
              </a:rPr>
              <a:t>● Frontend App</a:t>
            </a:r>
          </a:p>
        </p:txBody>
      </p:sp>
      <p:sp>
        <p:nvSpPr>
          <p:cNvPr id="16" name="TextBox 15"/>
          <p:cNvSpPr txBox="1"/>
          <p:nvPr/>
        </p:nvSpPr>
        <p:spPr>
          <a:xfrm>
            <a:off x="9601200" y="2487168"/>
            <a:ext cx="2286000" cy="320040"/>
          </a:xfrm>
          <a:prstGeom prst="rect">
            <a:avLst/>
          </a:prstGeom>
          <a:noFill/>
        </p:spPr>
        <p:txBody>
          <a:bodyPr wrap="square">
            <a:spAutoFit/>
          </a:bodyPr>
          <a:lstStyle/>
          <a:p>
            <a:pPr algn="l"/>
            <a:r>
              <a:rPr sz="900" b="0" i="0">
                <a:solidFill>
                  <a:srgbClr val="94A3B8"/>
                </a:solidFill>
              </a:rPr>
              <a:t>hrmhrmhrm-company-frontend-app.hf.space</a:t>
            </a:r>
          </a:p>
        </p:txBody>
      </p:sp>
      <p:sp>
        <p:nvSpPr>
          <p:cNvPr id="17" name="Rectangle 16"/>
          <p:cNvSpPr/>
          <p:nvPr/>
        </p:nvSpPr>
        <p:spPr>
          <a:xfrm>
            <a:off x="274320" y="2834640"/>
            <a:ext cx="1828800" cy="1645920"/>
          </a:xfrm>
          <a:prstGeom prst="rect">
            <a:avLst/>
          </a:prstGeom>
          <a:solidFill>
            <a:srgbClr val="131C2E"/>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2926080"/>
            <a:ext cx="1719072" cy="685800"/>
          </a:xfrm>
          <a:prstGeom prst="rect">
            <a:avLst/>
          </a:prstGeom>
          <a:noFill/>
        </p:spPr>
        <p:txBody>
          <a:bodyPr wrap="square">
            <a:spAutoFit/>
          </a:bodyPr>
          <a:lstStyle/>
          <a:p>
            <a:pPr algn="ctr"/>
            <a:r>
              <a:rPr sz="1200" b="1" i="0">
                <a:solidFill>
                  <a:srgbClr val="FFFFFF"/>
                </a:solidFill>
              </a:rPr>
              <a:t>LinkedIn
Job Page</a:t>
            </a:r>
          </a:p>
        </p:txBody>
      </p:sp>
      <p:sp>
        <p:nvSpPr>
          <p:cNvPr id="19" name="TextBox 18"/>
          <p:cNvSpPr txBox="1"/>
          <p:nvPr/>
        </p:nvSpPr>
        <p:spPr>
          <a:xfrm>
            <a:off x="320040" y="4160520"/>
            <a:ext cx="1737360" cy="320040"/>
          </a:xfrm>
          <a:prstGeom prst="rect">
            <a:avLst/>
          </a:prstGeom>
          <a:noFill/>
        </p:spPr>
        <p:txBody>
          <a:bodyPr wrap="square">
            <a:spAutoFit/>
          </a:bodyPr>
          <a:lstStyle/>
          <a:p>
            <a:pPr algn="ctr"/>
            <a:r>
              <a:rPr sz="900" b="0" i="0">
                <a:solidFill>
                  <a:srgbClr val="94A3B8"/>
                </a:solidFill>
              </a:rPr>
              <a:t>User opens job</a:t>
            </a:r>
          </a:p>
        </p:txBody>
      </p:sp>
      <p:sp>
        <p:nvSpPr>
          <p:cNvPr id="20" name="Rectangle 19"/>
          <p:cNvSpPr/>
          <p:nvPr/>
        </p:nvSpPr>
        <p:spPr>
          <a:xfrm>
            <a:off x="2651760" y="2377440"/>
            <a:ext cx="2103120" cy="2560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24912" y="2468880"/>
            <a:ext cx="1993392" cy="685800"/>
          </a:xfrm>
          <a:prstGeom prst="rect">
            <a:avLst/>
          </a:prstGeom>
          <a:noFill/>
        </p:spPr>
        <p:txBody>
          <a:bodyPr wrap="square">
            <a:spAutoFit/>
          </a:bodyPr>
          <a:lstStyle/>
          <a:p>
            <a:pPr algn="ctr"/>
            <a:r>
              <a:rPr sz="1200" b="1" i="0">
                <a:solidFill>
                  <a:srgbClr val="0D111A"/>
                </a:solidFill>
              </a:rPr>
              <a:t>content.js
(All Logic)</a:t>
            </a:r>
          </a:p>
        </p:txBody>
      </p:sp>
      <p:sp>
        <p:nvSpPr>
          <p:cNvPr id="22" name="TextBox 21"/>
          <p:cNvSpPr txBox="1"/>
          <p:nvPr/>
        </p:nvSpPr>
        <p:spPr>
          <a:xfrm>
            <a:off x="2697480" y="4617720"/>
            <a:ext cx="2011680" cy="320040"/>
          </a:xfrm>
          <a:prstGeom prst="rect">
            <a:avLst/>
          </a:prstGeom>
          <a:noFill/>
        </p:spPr>
        <p:txBody>
          <a:bodyPr wrap="square">
            <a:spAutoFit/>
          </a:bodyPr>
          <a:lstStyle/>
          <a:p>
            <a:pPr algn="ctr"/>
            <a:r>
              <a:rPr sz="900" b="0" i="0">
                <a:solidFill>
                  <a:srgbClr val="0D111A"/>
                </a:solidFill>
              </a:rPr>
              <a:t>Scrape · Call API · Render</a:t>
            </a:r>
          </a:p>
        </p:txBody>
      </p:sp>
      <p:sp>
        <p:nvSpPr>
          <p:cNvPr id="23" name="Rectangle 22"/>
          <p:cNvSpPr/>
          <p:nvPr/>
        </p:nvSpPr>
        <p:spPr>
          <a:xfrm>
            <a:off x="5349240" y="1417320"/>
            <a:ext cx="2194560" cy="1005840"/>
          </a:xfrm>
          <a:prstGeom prst="rect">
            <a:avLst/>
          </a:prstGeom>
          <a:solidFill>
            <a:srgbClr val="131C2E"/>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2392" y="1508760"/>
            <a:ext cx="2084832" cy="685800"/>
          </a:xfrm>
          <a:prstGeom prst="rect">
            <a:avLst/>
          </a:prstGeom>
          <a:noFill/>
        </p:spPr>
        <p:txBody>
          <a:bodyPr wrap="square">
            <a:spAutoFit/>
          </a:bodyPr>
          <a:lstStyle/>
          <a:p>
            <a:pPr algn="ctr"/>
            <a:r>
              <a:rPr sz="1200" b="1" i="0">
                <a:solidFill>
                  <a:srgbClr val="FFFFFF"/>
                </a:solidFill>
              </a:rPr>
              <a:t>background.js</a:t>
            </a:r>
          </a:p>
        </p:txBody>
      </p:sp>
      <p:sp>
        <p:nvSpPr>
          <p:cNvPr id="25" name="TextBox 24"/>
          <p:cNvSpPr txBox="1"/>
          <p:nvPr/>
        </p:nvSpPr>
        <p:spPr>
          <a:xfrm>
            <a:off x="5394960" y="2103120"/>
            <a:ext cx="2103120" cy="320040"/>
          </a:xfrm>
          <a:prstGeom prst="rect">
            <a:avLst/>
          </a:prstGeom>
          <a:noFill/>
        </p:spPr>
        <p:txBody>
          <a:bodyPr wrap="square">
            <a:spAutoFit/>
          </a:bodyPr>
          <a:lstStyle/>
          <a:p>
            <a:pPr algn="ctr"/>
            <a:r>
              <a:rPr sz="900" b="0" i="0">
                <a:solidFill>
                  <a:srgbClr val="94A3B8"/>
                </a:solidFill>
              </a:rPr>
              <a:t>Ping stub only</a:t>
            </a:r>
          </a:p>
        </p:txBody>
      </p:sp>
      <p:sp>
        <p:nvSpPr>
          <p:cNvPr id="26" name="Rectangle 25"/>
          <p:cNvSpPr/>
          <p:nvPr/>
        </p:nvSpPr>
        <p:spPr>
          <a:xfrm>
            <a:off x="5349240" y="2834640"/>
            <a:ext cx="2194560" cy="914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22392" y="2926080"/>
            <a:ext cx="2084832" cy="685800"/>
          </a:xfrm>
          <a:prstGeom prst="rect">
            <a:avLst/>
          </a:prstGeom>
          <a:noFill/>
        </p:spPr>
        <p:txBody>
          <a:bodyPr wrap="square">
            <a:spAutoFit/>
          </a:bodyPr>
          <a:lstStyle/>
          <a:p>
            <a:pPr algn="ctr"/>
            <a:r>
              <a:rPr sz="1200" b="1" i="0">
                <a:solidFill>
                  <a:srgbClr val="0D111A"/>
                </a:solidFill>
              </a:rPr>
              <a:t>/health</a:t>
            </a:r>
          </a:p>
        </p:txBody>
      </p:sp>
      <p:sp>
        <p:nvSpPr>
          <p:cNvPr id="28" name="TextBox 27"/>
          <p:cNvSpPr txBox="1"/>
          <p:nvPr/>
        </p:nvSpPr>
        <p:spPr>
          <a:xfrm>
            <a:off x="5394960" y="3429000"/>
            <a:ext cx="2103120" cy="320040"/>
          </a:xfrm>
          <a:prstGeom prst="rect">
            <a:avLst/>
          </a:prstGeom>
          <a:noFill/>
        </p:spPr>
        <p:txBody>
          <a:bodyPr wrap="square">
            <a:spAutoFit/>
          </a:bodyPr>
          <a:lstStyle/>
          <a:p>
            <a:pPr algn="ctr"/>
            <a:r>
              <a:rPr sz="900" b="0" i="0">
                <a:solidFill>
                  <a:srgbClr val="0D111A"/>
                </a:solidFill>
              </a:rPr>
              <a:t>Wake HF Space</a:t>
            </a:r>
          </a:p>
        </p:txBody>
      </p:sp>
      <p:sp>
        <p:nvSpPr>
          <p:cNvPr id="29" name="Rectangle 28"/>
          <p:cNvSpPr/>
          <p:nvPr/>
        </p:nvSpPr>
        <p:spPr>
          <a:xfrm>
            <a:off x="5349240" y="3931920"/>
            <a:ext cx="2194560" cy="9144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22392" y="4023360"/>
            <a:ext cx="2084832" cy="685800"/>
          </a:xfrm>
          <a:prstGeom prst="rect">
            <a:avLst/>
          </a:prstGeom>
          <a:noFill/>
        </p:spPr>
        <p:txBody>
          <a:bodyPr wrap="square">
            <a:spAutoFit/>
          </a:bodyPr>
          <a:lstStyle/>
          <a:p>
            <a:pPr algn="ctr"/>
            <a:r>
              <a:rPr sz="1200" b="1" i="0">
                <a:solidFill>
                  <a:srgbClr val="0D111A"/>
                </a:solidFill>
              </a:rPr>
              <a:t>/api/v1/run-batch</a:t>
            </a:r>
          </a:p>
        </p:txBody>
      </p:sp>
      <p:sp>
        <p:nvSpPr>
          <p:cNvPr id="31" name="TextBox 30"/>
          <p:cNvSpPr txBox="1"/>
          <p:nvPr/>
        </p:nvSpPr>
        <p:spPr>
          <a:xfrm>
            <a:off x="5394960" y="4526280"/>
            <a:ext cx="2103120" cy="320040"/>
          </a:xfrm>
          <a:prstGeom prst="rect">
            <a:avLst/>
          </a:prstGeom>
          <a:noFill/>
        </p:spPr>
        <p:txBody>
          <a:bodyPr wrap="square">
            <a:spAutoFit/>
          </a:bodyPr>
          <a:lstStyle/>
          <a:p>
            <a:pPr algn="ctr"/>
            <a:r>
              <a:rPr sz="900" b="0" i="0">
                <a:solidFill>
                  <a:srgbClr val="0D111A"/>
                </a:solidFill>
              </a:rPr>
              <a:t>13 tools, 90s timeout</a:t>
            </a:r>
          </a:p>
        </p:txBody>
      </p:sp>
      <p:sp>
        <p:nvSpPr>
          <p:cNvPr id="32" name="Rectangle 31"/>
          <p:cNvSpPr/>
          <p:nvPr/>
        </p:nvSpPr>
        <p:spPr>
          <a:xfrm>
            <a:off x="5349240" y="5029200"/>
            <a:ext cx="2194560" cy="9144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22392" y="5120640"/>
            <a:ext cx="2084832" cy="685800"/>
          </a:xfrm>
          <a:prstGeom prst="rect">
            <a:avLst/>
          </a:prstGeom>
          <a:noFill/>
        </p:spPr>
        <p:txBody>
          <a:bodyPr wrap="square">
            <a:spAutoFit/>
          </a:bodyPr>
          <a:lstStyle/>
          <a:p>
            <a:pPr algn="ctr"/>
            <a:r>
              <a:rPr sz="1200" b="1" i="0">
                <a:solidFill>
                  <a:srgbClr val="0D111A"/>
                </a:solidFill>
              </a:rPr>
              <a:t>/api/v1/llm/final-summary</a:t>
            </a:r>
          </a:p>
        </p:txBody>
      </p:sp>
      <p:sp>
        <p:nvSpPr>
          <p:cNvPr id="34" name="TextBox 33"/>
          <p:cNvSpPr txBox="1"/>
          <p:nvPr/>
        </p:nvSpPr>
        <p:spPr>
          <a:xfrm>
            <a:off x="5394960" y="5623560"/>
            <a:ext cx="2103120" cy="320040"/>
          </a:xfrm>
          <a:prstGeom prst="rect">
            <a:avLst/>
          </a:prstGeom>
          <a:noFill/>
        </p:spPr>
        <p:txBody>
          <a:bodyPr wrap="square">
            <a:spAutoFit/>
          </a:bodyPr>
          <a:lstStyle/>
          <a:p>
            <a:pPr algn="ctr"/>
            <a:r>
              <a:rPr sz="900" b="0" i="0">
                <a:solidFill>
                  <a:srgbClr val="0D111A"/>
                </a:solidFill>
              </a:rPr>
              <a:t>LLM verdict, 50s timeout</a:t>
            </a:r>
          </a:p>
        </p:txBody>
      </p:sp>
      <p:sp>
        <p:nvSpPr>
          <p:cNvPr id="35" name="Rectangle 34"/>
          <p:cNvSpPr/>
          <p:nvPr/>
        </p:nvSpPr>
        <p:spPr>
          <a:xfrm>
            <a:off x="8229600" y="2834640"/>
            <a:ext cx="2103120" cy="16459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02752" y="2926080"/>
            <a:ext cx="1993392" cy="685800"/>
          </a:xfrm>
          <a:prstGeom prst="rect">
            <a:avLst/>
          </a:prstGeom>
          <a:noFill/>
        </p:spPr>
        <p:txBody>
          <a:bodyPr wrap="square">
            <a:spAutoFit/>
          </a:bodyPr>
          <a:lstStyle/>
          <a:p>
            <a:pPr algn="ctr"/>
            <a:r>
              <a:rPr sz="1200" b="1" i="0">
                <a:solidFill>
                  <a:srgbClr val="0D111A"/>
                </a:solidFill>
              </a:rPr>
              <a:t>FastAPI Backend</a:t>
            </a:r>
          </a:p>
        </p:txBody>
      </p:sp>
      <p:sp>
        <p:nvSpPr>
          <p:cNvPr id="37" name="TextBox 36"/>
          <p:cNvSpPr txBox="1"/>
          <p:nvPr/>
        </p:nvSpPr>
        <p:spPr>
          <a:xfrm>
            <a:off x="8275320" y="4160520"/>
            <a:ext cx="2011680" cy="320040"/>
          </a:xfrm>
          <a:prstGeom prst="rect">
            <a:avLst/>
          </a:prstGeom>
          <a:noFill/>
        </p:spPr>
        <p:txBody>
          <a:bodyPr wrap="square">
            <a:spAutoFit/>
          </a:bodyPr>
          <a:lstStyle/>
          <a:p>
            <a:pPr algn="ctr"/>
            <a:r>
              <a:rPr sz="900" b="0" i="0">
                <a:solidFill>
                  <a:srgbClr val="0D111A"/>
                </a:solidFill>
              </a:rPr>
              <a:t>HuggingFace Spaces</a:t>
            </a:r>
          </a:p>
        </p:txBody>
      </p:sp>
      <p:sp>
        <p:nvSpPr>
          <p:cNvPr id="38" name="Rectangle 37"/>
          <p:cNvSpPr/>
          <p:nvPr/>
        </p:nvSpPr>
        <p:spPr>
          <a:xfrm>
            <a:off x="10607040" y="2834640"/>
            <a:ext cx="1371600" cy="1645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80192" y="2926080"/>
            <a:ext cx="1261872" cy="685800"/>
          </a:xfrm>
          <a:prstGeom prst="rect">
            <a:avLst/>
          </a:prstGeom>
          <a:noFill/>
        </p:spPr>
        <p:txBody>
          <a:bodyPr wrap="square">
            <a:spAutoFit/>
          </a:bodyPr>
          <a:lstStyle/>
          <a:p>
            <a:pPr algn="ctr"/>
            <a:r>
              <a:rPr sz="1200" b="1" i="0">
                <a:solidFill>
                  <a:srgbClr val="0D111A"/>
                </a:solidFill>
              </a:rPr>
              <a:t>Result
Overlay</a:t>
            </a:r>
          </a:p>
        </p:txBody>
      </p:sp>
      <p:sp>
        <p:nvSpPr>
          <p:cNvPr id="40" name="TextBox 39"/>
          <p:cNvSpPr txBox="1"/>
          <p:nvPr/>
        </p:nvSpPr>
        <p:spPr>
          <a:xfrm>
            <a:off x="10652760" y="4160520"/>
            <a:ext cx="1280160" cy="320040"/>
          </a:xfrm>
          <a:prstGeom prst="rect">
            <a:avLst/>
          </a:prstGeom>
          <a:noFill/>
        </p:spPr>
        <p:txBody>
          <a:bodyPr wrap="square">
            <a:spAutoFit/>
          </a:bodyPr>
          <a:lstStyle/>
          <a:p>
            <a:pPr algn="ctr"/>
            <a:r>
              <a:rPr sz="900" b="0" i="0">
                <a:solidFill>
                  <a:srgbClr val="0D111A"/>
                </a:solidFill>
              </a:rPr>
              <a:t>Rendered on page</a:t>
            </a:r>
          </a:p>
        </p:txBody>
      </p:sp>
      <p:sp>
        <p:nvSpPr>
          <p:cNvPr id="41" name="TextBox 40"/>
          <p:cNvSpPr txBox="1"/>
          <p:nvPr/>
        </p:nvSpPr>
        <p:spPr>
          <a:xfrm>
            <a:off x="2148840" y="3611880"/>
            <a:ext cx="365760" cy="411480"/>
          </a:xfrm>
          <a:prstGeom prst="rect">
            <a:avLst/>
          </a:prstGeom>
          <a:noFill/>
        </p:spPr>
        <p:txBody>
          <a:bodyPr wrap="square">
            <a:spAutoFit/>
          </a:bodyPr>
          <a:lstStyle/>
          <a:p>
            <a:pPr algn="ctr"/>
            <a:r>
              <a:rPr sz="1800" b="1" i="0">
                <a:solidFill>
                  <a:srgbClr val="94A3B8"/>
                </a:solidFill>
              </a:rPr>
              <a:t>→</a:t>
            </a:r>
          </a:p>
        </p:txBody>
      </p:sp>
      <p:sp>
        <p:nvSpPr>
          <p:cNvPr id="42" name="TextBox 41"/>
          <p:cNvSpPr txBox="1"/>
          <p:nvPr/>
        </p:nvSpPr>
        <p:spPr>
          <a:xfrm>
            <a:off x="7726679" y="3611880"/>
            <a:ext cx="365760" cy="411480"/>
          </a:xfrm>
          <a:prstGeom prst="rect">
            <a:avLst/>
          </a:prstGeom>
          <a:noFill/>
        </p:spPr>
        <p:txBody>
          <a:bodyPr wrap="square">
            <a:spAutoFit/>
          </a:bodyPr>
          <a:lstStyle/>
          <a:p>
            <a:pPr algn="ctr"/>
            <a:r>
              <a:rPr sz="1800" b="1" i="0">
                <a:solidFill>
                  <a:srgbClr val="94A3B8"/>
                </a:solidFill>
              </a:rPr>
              <a:t>→</a:t>
            </a:r>
          </a:p>
        </p:txBody>
      </p:sp>
      <p:sp>
        <p:nvSpPr>
          <p:cNvPr id="43" name="TextBox 42"/>
          <p:cNvSpPr txBox="1"/>
          <p:nvPr/>
        </p:nvSpPr>
        <p:spPr>
          <a:xfrm>
            <a:off x="10149840" y="3611880"/>
            <a:ext cx="365760" cy="411480"/>
          </a:xfrm>
          <a:prstGeom prst="rect">
            <a:avLst/>
          </a:prstGeom>
          <a:noFill/>
        </p:spPr>
        <p:txBody>
          <a:bodyPr wrap="square">
            <a:spAutoFit/>
          </a:bodyPr>
          <a:lstStyle/>
          <a:p>
            <a:pPr algn="ctr"/>
            <a:r>
              <a:rPr sz="1800" b="1" i="0">
                <a:solidFill>
                  <a:srgbClr val="94A3B8"/>
                </a:solidFill>
              </a:rPr>
              <a:t>→</a:t>
            </a:r>
          </a:p>
        </p:txBody>
      </p:sp>
      <p:sp>
        <p:nvSpPr>
          <p:cNvPr id="44" name="TextBox 43"/>
          <p:cNvSpPr txBox="1"/>
          <p:nvPr/>
        </p:nvSpPr>
        <p:spPr>
          <a:xfrm>
            <a:off x="5349240" y="2450592"/>
            <a:ext cx="2194560" cy="292608"/>
          </a:xfrm>
          <a:prstGeom prst="rect">
            <a:avLst/>
          </a:prstGeom>
          <a:noFill/>
        </p:spPr>
        <p:txBody>
          <a:bodyPr wrap="square">
            <a:spAutoFit/>
          </a:bodyPr>
          <a:lstStyle/>
          <a:p>
            <a:pPr algn="ctr"/>
            <a:r>
              <a:rPr sz="900" b="0" i="1">
                <a:solidFill>
                  <a:srgbClr val="94A3B8"/>
                </a:solidFill>
              </a:rPr>
              <a:t>↑ not used for API calls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Version 2 — Step-by-Step Data Flow</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From clicking 'FraudGuard' to seeing the verdict — 4 stages</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V2</a:t>
            </a:r>
          </a:p>
        </p:txBody>
      </p:sp>
      <p:sp>
        <p:nvSpPr>
          <p:cNvPr id="9" name="Rectangle 8"/>
          <p:cNvSpPr/>
          <p:nvPr/>
        </p:nvSpPr>
        <p:spPr>
          <a:xfrm>
            <a:off x="320040" y="1298448"/>
            <a:ext cx="2743200" cy="50749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298448"/>
            <a:ext cx="2743200" cy="6400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389888"/>
            <a:ext cx="2606040" cy="548640"/>
          </a:xfrm>
          <a:prstGeom prst="rect">
            <a:avLst/>
          </a:prstGeom>
          <a:noFill/>
        </p:spPr>
        <p:txBody>
          <a:bodyPr wrap="square">
            <a:spAutoFit/>
          </a:bodyPr>
          <a:lstStyle/>
          <a:p>
            <a:pPr algn="l"/>
            <a:r>
              <a:rPr sz="1400" b="1" i="0">
                <a:solidFill>
                  <a:srgbClr val="38BDF8"/>
                </a:solidFill>
              </a:rPr>
              <a:t>Step 1
Scrape</a:t>
            </a:r>
          </a:p>
        </p:txBody>
      </p:sp>
      <p:sp>
        <p:nvSpPr>
          <p:cNvPr id="12" name="TextBox 11"/>
          <p:cNvSpPr txBox="1"/>
          <p:nvPr/>
        </p:nvSpPr>
        <p:spPr>
          <a:xfrm>
            <a:off x="411480" y="2011680"/>
            <a:ext cx="2606040" cy="4206240"/>
          </a:xfrm>
          <a:prstGeom prst="rect">
            <a:avLst/>
          </a:prstGeom>
          <a:noFill/>
        </p:spPr>
        <p:txBody>
          <a:bodyPr wrap="square">
            <a:spAutoFit/>
          </a:bodyPr>
          <a:lstStyle/>
          <a:p>
            <a:pPr algn="l"/>
            <a:r>
              <a:rPr sz="1050" b="0" i="0">
                <a:solidFill>
                  <a:srgbClr val="94A3B8"/>
                </a:solidFill>
              </a:rPr>
              <a:t>MutationObserver detects job panel
Multi-selector fallback for each field:
  • Title → 5 CSS selectors → all &lt;h1&gt;
  • Company → selectors → /company/ links
  • Description → containers → TreeWalker
Retries up to 8× (500ms apart) for lazy
loaded LinkedIn SPA content</a:t>
            </a:r>
          </a:p>
        </p:txBody>
      </p:sp>
      <p:sp>
        <p:nvSpPr>
          <p:cNvPr id="13" name="Rectangle 12"/>
          <p:cNvSpPr/>
          <p:nvPr/>
        </p:nvSpPr>
        <p:spPr>
          <a:xfrm>
            <a:off x="3291840" y="1298448"/>
            <a:ext cx="2743200" cy="50749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298448"/>
            <a:ext cx="2743200"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389888"/>
            <a:ext cx="2606040" cy="548640"/>
          </a:xfrm>
          <a:prstGeom prst="rect">
            <a:avLst/>
          </a:prstGeom>
          <a:noFill/>
        </p:spPr>
        <p:txBody>
          <a:bodyPr wrap="square">
            <a:spAutoFit/>
          </a:bodyPr>
          <a:lstStyle/>
          <a:p>
            <a:pPr algn="l"/>
            <a:r>
              <a:rPr sz="1400" b="1" i="0">
                <a:solidFill>
                  <a:srgbClr val="A78BFA"/>
                </a:solidFill>
              </a:rPr>
              <a:t>Step 2
Health Check</a:t>
            </a:r>
          </a:p>
        </p:txBody>
      </p:sp>
      <p:sp>
        <p:nvSpPr>
          <p:cNvPr id="16" name="TextBox 15"/>
          <p:cNvSpPr txBox="1"/>
          <p:nvPr/>
        </p:nvSpPr>
        <p:spPr>
          <a:xfrm>
            <a:off x="3383280" y="2011680"/>
            <a:ext cx="2606040" cy="4206240"/>
          </a:xfrm>
          <a:prstGeom prst="rect">
            <a:avLst/>
          </a:prstGeom>
          <a:noFill/>
        </p:spPr>
        <p:txBody>
          <a:bodyPr wrap="square">
            <a:spAutoFit/>
          </a:bodyPr>
          <a:lstStyle/>
          <a:p>
            <a:pPr algn="l"/>
            <a:r>
              <a:rPr sz="1050" b="0" i="0">
                <a:solidFill>
                  <a:srgbClr val="94A3B8"/>
                </a:solidFill>
              </a:rPr>
              <a:t>GET /health  (12s timeout)
If fails → retry with 50s timeout
(HuggingFace Spaces sleep when idle)
If both fail → user sees error:
  'Cannot reach backend — verify URL'
Confirms backend is awake before
sending heavy batch request</a:t>
            </a:r>
          </a:p>
        </p:txBody>
      </p:sp>
      <p:sp>
        <p:nvSpPr>
          <p:cNvPr id="17" name="Rectangle 16"/>
          <p:cNvSpPr/>
          <p:nvPr/>
        </p:nvSpPr>
        <p:spPr>
          <a:xfrm>
            <a:off x="6263640" y="1298448"/>
            <a:ext cx="2743200" cy="50749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1298448"/>
            <a:ext cx="2743200" cy="6400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389888"/>
            <a:ext cx="2606040" cy="548640"/>
          </a:xfrm>
          <a:prstGeom prst="rect">
            <a:avLst/>
          </a:prstGeom>
          <a:noFill/>
        </p:spPr>
        <p:txBody>
          <a:bodyPr wrap="square">
            <a:spAutoFit/>
          </a:bodyPr>
          <a:lstStyle/>
          <a:p>
            <a:pPr algn="l"/>
            <a:r>
              <a:rPr sz="1400" b="1" i="0">
                <a:solidFill>
                  <a:srgbClr val="34D399"/>
                </a:solidFill>
              </a:rPr>
              <a:t>Step 3
Batch Tools</a:t>
            </a:r>
          </a:p>
        </p:txBody>
      </p:sp>
      <p:sp>
        <p:nvSpPr>
          <p:cNvPr id="20" name="TextBox 19"/>
          <p:cNvSpPr txBox="1"/>
          <p:nvPr/>
        </p:nvSpPr>
        <p:spPr>
          <a:xfrm>
            <a:off x="6355080" y="2011680"/>
            <a:ext cx="2606040" cy="4206240"/>
          </a:xfrm>
          <a:prstGeom prst="rect">
            <a:avLst/>
          </a:prstGeom>
          <a:noFill/>
        </p:spPr>
        <p:txBody>
          <a:bodyPr wrap="square">
            <a:spAutoFit/>
          </a:bodyPr>
          <a:lstStyle/>
          <a:p>
            <a:pPr algn="l"/>
            <a:r>
              <a:rPr sz="1050" b="0" i="0">
                <a:solidFill>
                  <a:srgbClr val="94A3B8"/>
                </a:solidFill>
              </a:rPr>
              <a:t>POST /api/v1/run-batch  (90s timeout)
Body: array of 13 tool requests
Backend runs all 13 in parallel
Returns: { ok, results[] }
If batch fails → fallback to individual
  scam_signals + roberta_classifier
batchToDict() maps results by tool name</a:t>
            </a:r>
          </a:p>
        </p:txBody>
      </p:sp>
      <p:sp>
        <p:nvSpPr>
          <p:cNvPr id="21" name="Rectangle 20"/>
          <p:cNvSpPr/>
          <p:nvPr/>
        </p:nvSpPr>
        <p:spPr>
          <a:xfrm>
            <a:off x="9235440" y="1298448"/>
            <a:ext cx="2743200" cy="507492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298448"/>
            <a:ext cx="274320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389888"/>
            <a:ext cx="2606040" cy="548640"/>
          </a:xfrm>
          <a:prstGeom prst="rect">
            <a:avLst/>
          </a:prstGeom>
          <a:noFill/>
        </p:spPr>
        <p:txBody>
          <a:bodyPr wrap="square">
            <a:spAutoFit/>
          </a:bodyPr>
          <a:lstStyle/>
          <a:p>
            <a:pPr algn="l"/>
            <a:r>
              <a:rPr sz="1400" b="1" i="0">
                <a:solidFill>
                  <a:srgbClr val="FBBF24"/>
                </a:solidFill>
              </a:rPr>
              <a:t>Step 4
Verdict</a:t>
            </a:r>
          </a:p>
        </p:txBody>
      </p:sp>
      <p:sp>
        <p:nvSpPr>
          <p:cNvPr id="24" name="TextBox 23"/>
          <p:cNvSpPr txBox="1"/>
          <p:nvPr/>
        </p:nvSpPr>
        <p:spPr>
          <a:xfrm>
            <a:off x="9326880" y="2011680"/>
            <a:ext cx="2606040" cy="4206240"/>
          </a:xfrm>
          <a:prstGeom prst="rect">
            <a:avLst/>
          </a:prstGeom>
          <a:noFill/>
        </p:spPr>
        <p:txBody>
          <a:bodyPr wrap="square">
            <a:spAutoFit/>
          </a:bodyPr>
          <a:lstStyle/>
          <a:p>
            <a:pPr algn="l"/>
            <a:r>
              <a:rPr sz="1050" b="0" i="0">
                <a:solidFill>
                  <a:srgbClr val="94A3B8"/>
                </a:solidFill>
              </a:rPr>
              <a:t>POST /api/v1/llm/final-summary (50s)
LLM sees all 13 tool outputs + job data
Returns: verdict + narrative report
If LLM fails → heuristicVerdict():
  Weighted score across all 13 tools
  ≥55 pts = LIKELY_FAKE
  ≥30 pts = SUSPICIOUS
  &lt;30 pts = 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The 13 Investigation Tools  (1 of 2)</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Sent as a single batch to the backend — all run in parallel server-side</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V2</a:t>
            </a:r>
          </a:p>
        </p:txBody>
      </p:sp>
      <p:sp>
        <p:nvSpPr>
          <p:cNvPr id="9" name="Rectangle 8"/>
          <p:cNvSpPr/>
          <p:nvPr/>
        </p:nvSpPr>
        <p:spPr>
          <a:xfrm>
            <a:off x="274320"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325880"/>
            <a:ext cx="1636776"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417320"/>
            <a:ext cx="320040" cy="292608"/>
          </a:xfrm>
          <a:prstGeom prst="rect">
            <a:avLst/>
          </a:prstGeom>
          <a:noFill/>
        </p:spPr>
        <p:txBody>
          <a:bodyPr wrap="square">
            <a:spAutoFit/>
          </a:bodyPr>
          <a:lstStyle/>
          <a:p>
            <a:pPr algn="l"/>
            <a:r>
              <a:rPr sz="1000" b="1" i="0">
                <a:solidFill>
                  <a:srgbClr val="34D399"/>
                </a:solidFill>
              </a:rPr>
              <a:t>#1</a:t>
            </a:r>
          </a:p>
        </p:txBody>
      </p:sp>
      <p:sp>
        <p:nvSpPr>
          <p:cNvPr id="12" name="TextBox 11"/>
          <p:cNvSpPr txBox="1"/>
          <p:nvPr/>
        </p:nvSpPr>
        <p:spPr>
          <a:xfrm>
            <a:off x="347472" y="1673352"/>
            <a:ext cx="1499616" cy="640080"/>
          </a:xfrm>
          <a:prstGeom prst="rect">
            <a:avLst/>
          </a:prstGeom>
          <a:noFill/>
        </p:spPr>
        <p:txBody>
          <a:bodyPr wrap="square">
            <a:spAutoFit/>
          </a:bodyPr>
          <a:lstStyle/>
          <a:p>
            <a:pPr algn="l"/>
            <a:r>
              <a:rPr sz="1000" b="1" i="0">
                <a:solidFill>
                  <a:srgbClr val="FFFFFF"/>
                </a:solidFill>
              </a:rPr>
              <a:t>roberta_
classifier</a:t>
            </a:r>
          </a:p>
        </p:txBody>
      </p:sp>
      <p:sp>
        <p:nvSpPr>
          <p:cNvPr id="13" name="TextBox 12"/>
          <p:cNvSpPr txBox="1"/>
          <p:nvPr/>
        </p:nvSpPr>
        <p:spPr>
          <a:xfrm>
            <a:off x="347472" y="2331720"/>
            <a:ext cx="1499616" cy="292608"/>
          </a:xfrm>
          <a:prstGeom prst="rect">
            <a:avLst/>
          </a:prstGeom>
          <a:noFill/>
        </p:spPr>
        <p:txBody>
          <a:bodyPr wrap="square">
            <a:spAutoFit/>
          </a:bodyPr>
          <a:lstStyle/>
          <a:p>
            <a:pPr algn="l"/>
            <a:r>
              <a:rPr sz="900" b="0" i="1">
                <a:solidFill>
                  <a:srgbClr val="FBBF24"/>
                </a:solidFill>
              </a:rPr>
              <a:t>Input: job_text</a:t>
            </a:r>
          </a:p>
        </p:txBody>
      </p:sp>
      <p:sp>
        <p:nvSpPr>
          <p:cNvPr id="14" name="TextBox 13"/>
          <p:cNvSpPr txBox="1"/>
          <p:nvPr/>
        </p:nvSpPr>
        <p:spPr>
          <a:xfrm>
            <a:off x="347472" y="2651760"/>
            <a:ext cx="1499616" cy="3566160"/>
          </a:xfrm>
          <a:prstGeom prst="rect">
            <a:avLst/>
          </a:prstGeom>
          <a:noFill/>
        </p:spPr>
        <p:txBody>
          <a:bodyPr wrap="square">
            <a:spAutoFit/>
          </a:bodyPr>
          <a:lstStyle/>
          <a:p>
            <a:pPr algn="l"/>
            <a:r>
              <a:rPr sz="950" b="0" i="0">
                <a:solidFill>
                  <a:srgbClr val="94A3B8"/>
                </a:solidFill>
              </a:rPr>
              <a:t>Fine-tuned RoBERTa-base (125M params)
Dataset: EMSCAD (18k real/fake jobs)
Returns fraud_probability 0→1
Threshold: 0.87 = FRAUD
Weight in heuristic: 40 pts max</a:t>
            </a:r>
          </a:p>
        </p:txBody>
      </p:sp>
      <p:sp>
        <p:nvSpPr>
          <p:cNvPr id="15" name="Rectangle 14"/>
          <p:cNvSpPr/>
          <p:nvPr/>
        </p:nvSpPr>
        <p:spPr>
          <a:xfrm>
            <a:off x="1975104"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75104" y="1325880"/>
            <a:ext cx="1636776"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48256" y="1417320"/>
            <a:ext cx="320040" cy="292608"/>
          </a:xfrm>
          <a:prstGeom prst="rect">
            <a:avLst/>
          </a:prstGeom>
          <a:noFill/>
        </p:spPr>
        <p:txBody>
          <a:bodyPr wrap="square">
            <a:spAutoFit/>
          </a:bodyPr>
          <a:lstStyle/>
          <a:p>
            <a:pPr algn="l"/>
            <a:r>
              <a:rPr sz="1000" b="1" i="0">
                <a:solidFill>
                  <a:srgbClr val="F87171"/>
                </a:solidFill>
              </a:rPr>
              <a:t>#2</a:t>
            </a:r>
          </a:p>
        </p:txBody>
      </p:sp>
      <p:sp>
        <p:nvSpPr>
          <p:cNvPr id="18" name="TextBox 17"/>
          <p:cNvSpPr txBox="1"/>
          <p:nvPr/>
        </p:nvSpPr>
        <p:spPr>
          <a:xfrm>
            <a:off x="2048256" y="1673352"/>
            <a:ext cx="1499616" cy="640080"/>
          </a:xfrm>
          <a:prstGeom prst="rect">
            <a:avLst/>
          </a:prstGeom>
          <a:noFill/>
        </p:spPr>
        <p:txBody>
          <a:bodyPr wrap="square">
            <a:spAutoFit/>
          </a:bodyPr>
          <a:lstStyle/>
          <a:p>
            <a:pPr algn="l"/>
            <a:r>
              <a:rPr sz="1000" b="1" i="0">
                <a:solidFill>
                  <a:srgbClr val="FFFFFF"/>
                </a:solidFill>
              </a:rPr>
              <a:t>scam_
signals</a:t>
            </a:r>
          </a:p>
        </p:txBody>
      </p:sp>
      <p:sp>
        <p:nvSpPr>
          <p:cNvPr id="19" name="TextBox 18"/>
          <p:cNvSpPr txBox="1"/>
          <p:nvPr/>
        </p:nvSpPr>
        <p:spPr>
          <a:xfrm>
            <a:off x="2048256" y="2331720"/>
            <a:ext cx="1499616" cy="292608"/>
          </a:xfrm>
          <a:prstGeom prst="rect">
            <a:avLst/>
          </a:prstGeom>
          <a:noFill/>
        </p:spPr>
        <p:txBody>
          <a:bodyPr wrap="square">
            <a:spAutoFit/>
          </a:bodyPr>
          <a:lstStyle/>
          <a:p>
            <a:pPr algn="l"/>
            <a:r>
              <a:rPr sz="900" b="0" i="1">
                <a:solidFill>
                  <a:srgbClr val="FBBF24"/>
                </a:solidFill>
              </a:rPr>
              <a:t>Input: job_text</a:t>
            </a:r>
          </a:p>
        </p:txBody>
      </p:sp>
      <p:sp>
        <p:nvSpPr>
          <p:cNvPr id="20" name="TextBox 19"/>
          <p:cNvSpPr txBox="1"/>
          <p:nvPr/>
        </p:nvSpPr>
        <p:spPr>
          <a:xfrm>
            <a:off x="2048256" y="2651760"/>
            <a:ext cx="1499616" cy="3566160"/>
          </a:xfrm>
          <a:prstGeom prst="rect">
            <a:avLst/>
          </a:prstGeom>
          <a:noFill/>
        </p:spPr>
        <p:txBody>
          <a:bodyPr wrap="square">
            <a:spAutoFit/>
          </a:bodyPr>
          <a:lstStyle/>
          <a:p>
            <a:pPr algn="l"/>
            <a:r>
              <a:rPr sz="950" b="0" i="0">
                <a:solidFill>
                  <a:srgbClr val="94A3B8"/>
                </a:solidFill>
              </a:rPr>
              <a:t>Regex pattern library
Flags: 'wire transfer', 'advance fee',
'no experience needed', 'work from home'
Returns: risk_level + scam_score/100
Weight in heuristic: 25 pts max</a:t>
            </a:r>
          </a:p>
        </p:txBody>
      </p:sp>
      <p:sp>
        <p:nvSpPr>
          <p:cNvPr id="21" name="Rectangle 20"/>
          <p:cNvSpPr/>
          <p:nvPr/>
        </p:nvSpPr>
        <p:spPr>
          <a:xfrm>
            <a:off x="3675888"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5888" y="1325880"/>
            <a:ext cx="1636776"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0" y="1417320"/>
            <a:ext cx="320040" cy="292608"/>
          </a:xfrm>
          <a:prstGeom prst="rect">
            <a:avLst/>
          </a:prstGeom>
          <a:noFill/>
        </p:spPr>
        <p:txBody>
          <a:bodyPr wrap="square">
            <a:spAutoFit/>
          </a:bodyPr>
          <a:lstStyle/>
          <a:p>
            <a:pPr algn="l"/>
            <a:r>
              <a:rPr sz="1000" b="1" i="0">
                <a:solidFill>
                  <a:srgbClr val="FBBF24"/>
                </a:solidFill>
              </a:rPr>
              <a:t>#3</a:t>
            </a:r>
          </a:p>
        </p:txBody>
      </p:sp>
      <p:sp>
        <p:nvSpPr>
          <p:cNvPr id="24" name="TextBox 23"/>
          <p:cNvSpPr txBox="1"/>
          <p:nvPr/>
        </p:nvSpPr>
        <p:spPr>
          <a:xfrm>
            <a:off x="3749040" y="1673352"/>
            <a:ext cx="1499616" cy="640080"/>
          </a:xfrm>
          <a:prstGeom prst="rect">
            <a:avLst/>
          </a:prstGeom>
          <a:noFill/>
        </p:spPr>
        <p:txBody>
          <a:bodyPr wrap="square">
            <a:spAutoFit/>
          </a:bodyPr>
          <a:lstStyle/>
          <a:p>
            <a:pPr algn="l"/>
            <a:r>
              <a:rPr sz="1000" b="1" i="0">
                <a:solidFill>
                  <a:srgbClr val="FFFFFF"/>
                </a:solidFill>
              </a:rPr>
              <a:t>domain_
reputation</a:t>
            </a:r>
          </a:p>
        </p:txBody>
      </p:sp>
      <p:sp>
        <p:nvSpPr>
          <p:cNvPr id="25" name="TextBox 24"/>
          <p:cNvSpPr txBox="1"/>
          <p:nvPr/>
        </p:nvSpPr>
        <p:spPr>
          <a:xfrm>
            <a:off x="3749040" y="2331720"/>
            <a:ext cx="1499616" cy="292608"/>
          </a:xfrm>
          <a:prstGeom prst="rect">
            <a:avLst/>
          </a:prstGeom>
          <a:noFill/>
        </p:spPr>
        <p:txBody>
          <a:bodyPr wrap="square">
            <a:spAutoFit/>
          </a:bodyPr>
          <a:lstStyle/>
          <a:p>
            <a:pPr algn="l"/>
            <a:r>
              <a:rPr sz="900" b="0" i="1">
                <a:solidFill>
                  <a:srgbClr val="FBBF24"/>
                </a:solidFill>
              </a:rPr>
              <a:t>Input: company website</a:t>
            </a:r>
          </a:p>
        </p:txBody>
      </p:sp>
      <p:sp>
        <p:nvSpPr>
          <p:cNvPr id="26" name="TextBox 25"/>
          <p:cNvSpPr txBox="1"/>
          <p:nvPr/>
        </p:nvSpPr>
        <p:spPr>
          <a:xfrm>
            <a:off x="3749040" y="2651760"/>
            <a:ext cx="1499616" cy="3566160"/>
          </a:xfrm>
          <a:prstGeom prst="rect">
            <a:avLst/>
          </a:prstGeom>
          <a:noFill/>
        </p:spPr>
        <p:txBody>
          <a:bodyPr wrap="square">
            <a:spAutoFit/>
          </a:bodyPr>
          <a:lstStyle/>
          <a:p>
            <a:pPr algn="l"/>
            <a:r>
              <a:rPr sz="950" b="0" i="0">
                <a:solidFill>
                  <a:srgbClr val="94A3B8"/>
                </a:solidFill>
              </a:rPr>
              <a:t>WHOIS lookup for company domain
Checks: domain age, registrar, DNS flags
&lt;30 days old = HIGH risk
&lt;180 days old = MEDIUM risk
Weight in heuristic: 15 pts max</a:t>
            </a:r>
          </a:p>
        </p:txBody>
      </p:sp>
      <p:sp>
        <p:nvSpPr>
          <p:cNvPr id="27" name="Rectangle 26"/>
          <p:cNvSpPr/>
          <p:nvPr/>
        </p:nvSpPr>
        <p:spPr>
          <a:xfrm>
            <a:off x="5376672"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76672" y="1325880"/>
            <a:ext cx="1636776"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9824" y="1417320"/>
            <a:ext cx="320040" cy="292608"/>
          </a:xfrm>
          <a:prstGeom prst="rect">
            <a:avLst/>
          </a:prstGeom>
          <a:noFill/>
        </p:spPr>
        <p:txBody>
          <a:bodyPr wrap="square">
            <a:spAutoFit/>
          </a:bodyPr>
          <a:lstStyle/>
          <a:p>
            <a:pPr algn="l"/>
            <a:r>
              <a:rPr sz="1000" b="1" i="0">
                <a:solidFill>
                  <a:srgbClr val="38BDF8"/>
                </a:solidFill>
              </a:rPr>
              <a:t>#4</a:t>
            </a:r>
          </a:p>
        </p:txBody>
      </p:sp>
      <p:sp>
        <p:nvSpPr>
          <p:cNvPr id="30" name="TextBox 29"/>
          <p:cNvSpPr txBox="1"/>
          <p:nvPr/>
        </p:nvSpPr>
        <p:spPr>
          <a:xfrm>
            <a:off x="5449824" y="1673352"/>
            <a:ext cx="1499616" cy="640080"/>
          </a:xfrm>
          <a:prstGeom prst="rect">
            <a:avLst/>
          </a:prstGeom>
          <a:noFill/>
        </p:spPr>
        <p:txBody>
          <a:bodyPr wrap="square">
            <a:spAutoFit/>
          </a:bodyPr>
          <a:lstStyle/>
          <a:p>
            <a:pPr algn="l"/>
            <a:r>
              <a:rPr sz="1000" b="1" i="0">
                <a:solidFill>
                  <a:srgbClr val="FFFFFF"/>
                </a:solidFill>
              </a:rPr>
              <a:t>website_
verify</a:t>
            </a:r>
          </a:p>
        </p:txBody>
      </p:sp>
      <p:sp>
        <p:nvSpPr>
          <p:cNvPr id="31" name="TextBox 30"/>
          <p:cNvSpPr txBox="1"/>
          <p:nvPr/>
        </p:nvSpPr>
        <p:spPr>
          <a:xfrm>
            <a:off x="5449824" y="2331720"/>
            <a:ext cx="1499616" cy="292608"/>
          </a:xfrm>
          <a:prstGeom prst="rect">
            <a:avLst/>
          </a:prstGeom>
          <a:noFill/>
        </p:spPr>
        <p:txBody>
          <a:bodyPr wrap="square">
            <a:spAutoFit/>
          </a:bodyPr>
          <a:lstStyle/>
          <a:p>
            <a:pPr algn="l"/>
            <a:r>
              <a:rPr sz="900" b="0" i="1">
                <a:solidFill>
                  <a:srgbClr val="FBBF24"/>
                </a:solidFill>
              </a:rPr>
              <a:t>Input: company URL</a:t>
            </a:r>
          </a:p>
        </p:txBody>
      </p:sp>
      <p:sp>
        <p:nvSpPr>
          <p:cNvPr id="32" name="TextBox 31"/>
          <p:cNvSpPr txBox="1"/>
          <p:nvPr/>
        </p:nvSpPr>
        <p:spPr>
          <a:xfrm>
            <a:off x="5449824" y="2651760"/>
            <a:ext cx="1499616" cy="3566160"/>
          </a:xfrm>
          <a:prstGeom prst="rect">
            <a:avLst/>
          </a:prstGeom>
          <a:noFill/>
        </p:spPr>
        <p:txBody>
          <a:bodyPr wrap="square">
            <a:spAutoFit/>
          </a:bodyPr>
          <a:lstStyle/>
          <a:p>
            <a:pPr algn="l"/>
            <a:r>
              <a:rPr sz="950" b="0" i="0">
                <a:solidFill>
                  <a:srgbClr val="94A3B8"/>
                </a:solidFill>
              </a:rPr>
              <a:t>HTTP GET to company website
Checks: site is live, SSL certificate valid
No SSL = suspicious signal
Site down = strong fraud signal
Weight in heuristic: 8 pts max</a:t>
            </a:r>
          </a:p>
        </p:txBody>
      </p:sp>
      <p:sp>
        <p:nvSpPr>
          <p:cNvPr id="33" name="Rectangle 32"/>
          <p:cNvSpPr/>
          <p:nvPr/>
        </p:nvSpPr>
        <p:spPr>
          <a:xfrm>
            <a:off x="7077456"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077456" y="1325880"/>
            <a:ext cx="1636776"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0608" y="1417320"/>
            <a:ext cx="320040" cy="292608"/>
          </a:xfrm>
          <a:prstGeom prst="rect">
            <a:avLst/>
          </a:prstGeom>
          <a:noFill/>
        </p:spPr>
        <p:txBody>
          <a:bodyPr wrap="square">
            <a:spAutoFit/>
          </a:bodyPr>
          <a:lstStyle/>
          <a:p>
            <a:pPr algn="l"/>
            <a:r>
              <a:rPr sz="1000" b="1" i="0">
                <a:solidFill>
                  <a:srgbClr val="A78BFA"/>
                </a:solidFill>
              </a:rPr>
              <a:t>#5</a:t>
            </a:r>
          </a:p>
        </p:txBody>
      </p:sp>
      <p:sp>
        <p:nvSpPr>
          <p:cNvPr id="36" name="TextBox 35"/>
          <p:cNvSpPr txBox="1"/>
          <p:nvPr/>
        </p:nvSpPr>
        <p:spPr>
          <a:xfrm>
            <a:off x="7150608" y="1673352"/>
            <a:ext cx="1499616" cy="640080"/>
          </a:xfrm>
          <a:prstGeom prst="rect">
            <a:avLst/>
          </a:prstGeom>
          <a:noFill/>
        </p:spPr>
        <p:txBody>
          <a:bodyPr wrap="square">
            <a:spAutoFit/>
          </a:bodyPr>
          <a:lstStyle/>
          <a:p>
            <a:pPr algn="l"/>
            <a:r>
              <a:rPr sz="1000" b="1" i="0">
                <a:solidFill>
                  <a:srgbClr val="FFFFFF"/>
                </a:solidFill>
              </a:rPr>
              <a:t>social_
profiles</a:t>
            </a:r>
          </a:p>
        </p:txBody>
      </p:sp>
      <p:sp>
        <p:nvSpPr>
          <p:cNvPr id="37" name="TextBox 36"/>
          <p:cNvSpPr txBox="1"/>
          <p:nvPr/>
        </p:nvSpPr>
        <p:spPr>
          <a:xfrm>
            <a:off x="7150608" y="2331720"/>
            <a:ext cx="1499616" cy="292608"/>
          </a:xfrm>
          <a:prstGeom prst="rect">
            <a:avLst/>
          </a:prstGeom>
          <a:noFill/>
        </p:spPr>
        <p:txBody>
          <a:bodyPr wrap="square">
            <a:spAutoFit/>
          </a:bodyPr>
          <a:lstStyle/>
          <a:p>
            <a:pPr algn="l"/>
            <a:r>
              <a:rPr sz="900" b="0" i="1">
                <a:solidFill>
                  <a:srgbClr val="FBBF24"/>
                </a:solidFill>
              </a:rPr>
              <a:t>Input: company_name</a:t>
            </a:r>
          </a:p>
        </p:txBody>
      </p:sp>
      <p:sp>
        <p:nvSpPr>
          <p:cNvPr id="38" name="TextBox 37"/>
          <p:cNvSpPr txBox="1"/>
          <p:nvPr/>
        </p:nvSpPr>
        <p:spPr>
          <a:xfrm>
            <a:off x="7150608" y="2651760"/>
            <a:ext cx="1499616" cy="3566160"/>
          </a:xfrm>
          <a:prstGeom prst="rect">
            <a:avLst/>
          </a:prstGeom>
          <a:noFill/>
        </p:spPr>
        <p:txBody>
          <a:bodyPr wrap="square">
            <a:spAutoFit/>
          </a:bodyPr>
          <a:lstStyle/>
          <a:p>
            <a:pPr algn="l"/>
            <a:r>
              <a:rPr sz="950" b="0" i="0">
                <a:solidFill>
                  <a:srgbClr val="94A3B8"/>
                </a:solidFill>
              </a:rPr>
              <a:t>Searches LinkedIn, Twitter, Facebook
Counts number of platforms found
0 platforms = strong fraud signal
1 platform = weak fraud signal
Weight in heuristic: 8 pts max</a:t>
            </a:r>
          </a:p>
        </p:txBody>
      </p:sp>
      <p:sp>
        <p:nvSpPr>
          <p:cNvPr id="39" name="Rectangle 38"/>
          <p:cNvSpPr/>
          <p:nvPr/>
        </p:nvSpPr>
        <p:spPr>
          <a:xfrm>
            <a:off x="8778240"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78240" y="1325880"/>
            <a:ext cx="1636776"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51392" y="1417320"/>
            <a:ext cx="320040" cy="292608"/>
          </a:xfrm>
          <a:prstGeom prst="rect">
            <a:avLst/>
          </a:prstGeom>
          <a:noFill/>
        </p:spPr>
        <p:txBody>
          <a:bodyPr wrap="square">
            <a:spAutoFit/>
          </a:bodyPr>
          <a:lstStyle/>
          <a:p>
            <a:pPr algn="l"/>
            <a:r>
              <a:rPr sz="1000" b="1" i="0">
                <a:solidFill>
                  <a:srgbClr val="34D399"/>
                </a:solidFill>
              </a:rPr>
              <a:t>#6</a:t>
            </a:r>
          </a:p>
        </p:txBody>
      </p:sp>
      <p:sp>
        <p:nvSpPr>
          <p:cNvPr id="42" name="TextBox 41"/>
          <p:cNvSpPr txBox="1"/>
          <p:nvPr/>
        </p:nvSpPr>
        <p:spPr>
          <a:xfrm>
            <a:off x="8851392" y="1673352"/>
            <a:ext cx="1499616" cy="640080"/>
          </a:xfrm>
          <a:prstGeom prst="rect">
            <a:avLst/>
          </a:prstGeom>
          <a:noFill/>
        </p:spPr>
        <p:txBody>
          <a:bodyPr wrap="square">
            <a:spAutoFit/>
          </a:bodyPr>
          <a:lstStyle/>
          <a:p>
            <a:pPr algn="l"/>
            <a:r>
              <a:rPr sz="1000" b="1" i="0">
                <a:solidFill>
                  <a:srgbClr val="FFFFFF"/>
                </a:solidFill>
              </a:rPr>
              <a:t>job_
boards</a:t>
            </a:r>
          </a:p>
        </p:txBody>
      </p:sp>
      <p:sp>
        <p:nvSpPr>
          <p:cNvPr id="43" name="TextBox 42"/>
          <p:cNvSpPr txBox="1"/>
          <p:nvPr/>
        </p:nvSpPr>
        <p:spPr>
          <a:xfrm>
            <a:off x="8851392" y="2331720"/>
            <a:ext cx="1499616" cy="292608"/>
          </a:xfrm>
          <a:prstGeom prst="rect">
            <a:avLst/>
          </a:prstGeom>
          <a:noFill/>
        </p:spPr>
        <p:txBody>
          <a:bodyPr wrap="square">
            <a:spAutoFit/>
          </a:bodyPr>
          <a:lstStyle/>
          <a:p>
            <a:pPr algn="l"/>
            <a:r>
              <a:rPr sz="900" b="0" i="1">
                <a:solidFill>
                  <a:srgbClr val="FBBF24"/>
                </a:solidFill>
              </a:rPr>
              <a:t>Input: title + company</a:t>
            </a:r>
          </a:p>
        </p:txBody>
      </p:sp>
      <p:sp>
        <p:nvSpPr>
          <p:cNvPr id="44" name="TextBox 43"/>
          <p:cNvSpPr txBox="1"/>
          <p:nvPr/>
        </p:nvSpPr>
        <p:spPr>
          <a:xfrm>
            <a:off x="8851392" y="2651760"/>
            <a:ext cx="1499616" cy="3566160"/>
          </a:xfrm>
          <a:prstGeom prst="rect">
            <a:avLst/>
          </a:prstGeom>
          <a:noFill/>
        </p:spPr>
        <p:txBody>
          <a:bodyPr wrap="square">
            <a:spAutoFit/>
          </a:bodyPr>
          <a:lstStyle/>
          <a:p>
            <a:pPr algn="l"/>
            <a:r>
              <a:rPr sz="950" b="0" i="0">
                <a:solidFill>
                  <a:srgbClr val="94A3B8"/>
                </a:solidFill>
              </a:rPr>
              <a:t>Cross-references Indeed, Glassdoor
Checks if same job exists elsewhere
Job not on any boards = suspicious
Cross-posting confirms legitimacy
Weight in heuristic: 6 pts max</a:t>
            </a:r>
          </a:p>
        </p:txBody>
      </p:sp>
      <p:sp>
        <p:nvSpPr>
          <p:cNvPr id="45" name="Rectangle 44"/>
          <p:cNvSpPr/>
          <p:nvPr/>
        </p:nvSpPr>
        <p:spPr>
          <a:xfrm>
            <a:off x="10479024" y="1325880"/>
            <a:ext cx="1636776"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79024" y="1325880"/>
            <a:ext cx="1636776"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52176" y="1417320"/>
            <a:ext cx="320040" cy="292608"/>
          </a:xfrm>
          <a:prstGeom prst="rect">
            <a:avLst/>
          </a:prstGeom>
          <a:noFill/>
        </p:spPr>
        <p:txBody>
          <a:bodyPr wrap="square">
            <a:spAutoFit/>
          </a:bodyPr>
          <a:lstStyle/>
          <a:p>
            <a:pPr algn="l"/>
            <a:r>
              <a:rPr sz="1000" b="1" i="0">
                <a:solidFill>
                  <a:srgbClr val="38BDF8"/>
                </a:solidFill>
              </a:rPr>
              <a:t>#7</a:t>
            </a:r>
          </a:p>
        </p:txBody>
      </p:sp>
      <p:sp>
        <p:nvSpPr>
          <p:cNvPr id="48" name="TextBox 47"/>
          <p:cNvSpPr txBox="1"/>
          <p:nvPr/>
        </p:nvSpPr>
        <p:spPr>
          <a:xfrm>
            <a:off x="10552176" y="1673352"/>
            <a:ext cx="1499616" cy="640080"/>
          </a:xfrm>
          <a:prstGeom prst="rect">
            <a:avLst/>
          </a:prstGeom>
          <a:noFill/>
        </p:spPr>
        <p:txBody>
          <a:bodyPr wrap="square">
            <a:spAutoFit/>
          </a:bodyPr>
          <a:lstStyle/>
          <a:p>
            <a:pPr algn="l"/>
            <a:r>
              <a:rPr sz="1000" b="1" i="0">
                <a:solidFill>
                  <a:srgbClr val="FFFFFF"/>
                </a:solidFill>
              </a:rPr>
              <a:t>company_
wikipedia</a:t>
            </a:r>
          </a:p>
        </p:txBody>
      </p:sp>
      <p:sp>
        <p:nvSpPr>
          <p:cNvPr id="49" name="TextBox 48"/>
          <p:cNvSpPr txBox="1"/>
          <p:nvPr/>
        </p:nvSpPr>
        <p:spPr>
          <a:xfrm>
            <a:off x="10552176" y="2331720"/>
            <a:ext cx="1499616" cy="292608"/>
          </a:xfrm>
          <a:prstGeom prst="rect">
            <a:avLst/>
          </a:prstGeom>
          <a:noFill/>
        </p:spPr>
        <p:txBody>
          <a:bodyPr wrap="square">
            <a:spAutoFit/>
          </a:bodyPr>
          <a:lstStyle/>
          <a:p>
            <a:pPr algn="l"/>
            <a:r>
              <a:rPr sz="900" b="0" i="1">
                <a:solidFill>
                  <a:srgbClr val="FBBF24"/>
                </a:solidFill>
              </a:rPr>
              <a:t>Input: company_name</a:t>
            </a:r>
          </a:p>
        </p:txBody>
      </p:sp>
      <p:sp>
        <p:nvSpPr>
          <p:cNvPr id="50" name="TextBox 49"/>
          <p:cNvSpPr txBox="1"/>
          <p:nvPr/>
        </p:nvSpPr>
        <p:spPr>
          <a:xfrm>
            <a:off x="10552176" y="2651760"/>
            <a:ext cx="1499616" cy="3566160"/>
          </a:xfrm>
          <a:prstGeom prst="rect">
            <a:avLst/>
          </a:prstGeom>
          <a:noFill/>
        </p:spPr>
        <p:txBody>
          <a:bodyPr wrap="square">
            <a:spAutoFit/>
          </a:bodyPr>
          <a:lstStyle/>
          <a:p>
            <a:pPr algn="l"/>
            <a:r>
              <a:rPr sz="950" b="0" i="0">
                <a:solidFill>
                  <a:srgbClr val="94A3B8"/>
                </a:solidFill>
              </a:rPr>
              <a:t>Wikipedia API search
Looks for company article + extract
No Wikipedia = legitimacy concern
Found + extract = positive signal
Weight in heuristic: 4 pts max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The 13 Investigation Tools  (2 of 2)</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Additional signals providing deeper context for the final verdict</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V2</a:t>
            </a:r>
          </a:p>
        </p:txBody>
      </p:sp>
      <p:sp>
        <p:nvSpPr>
          <p:cNvPr id="9" name="Rectangle 8"/>
          <p:cNvSpPr/>
          <p:nvPr/>
        </p:nvSpPr>
        <p:spPr>
          <a:xfrm>
            <a:off x="320040"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325880"/>
            <a:ext cx="1874519"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417320"/>
            <a:ext cx="320040" cy="292608"/>
          </a:xfrm>
          <a:prstGeom prst="rect">
            <a:avLst/>
          </a:prstGeom>
          <a:noFill/>
        </p:spPr>
        <p:txBody>
          <a:bodyPr wrap="square">
            <a:spAutoFit/>
          </a:bodyPr>
          <a:lstStyle/>
          <a:p>
            <a:pPr algn="l"/>
            <a:r>
              <a:rPr sz="1000" b="1" i="0">
                <a:solidFill>
                  <a:srgbClr val="FBBF24"/>
                </a:solidFill>
              </a:rPr>
              <a:t>#8</a:t>
            </a:r>
          </a:p>
        </p:txBody>
      </p:sp>
      <p:sp>
        <p:nvSpPr>
          <p:cNvPr id="12" name="TextBox 11"/>
          <p:cNvSpPr txBox="1"/>
          <p:nvPr/>
        </p:nvSpPr>
        <p:spPr>
          <a:xfrm>
            <a:off x="393192" y="1673352"/>
            <a:ext cx="1737359" cy="640080"/>
          </a:xfrm>
          <a:prstGeom prst="rect">
            <a:avLst/>
          </a:prstGeom>
          <a:noFill/>
        </p:spPr>
        <p:txBody>
          <a:bodyPr wrap="square">
            <a:spAutoFit/>
          </a:bodyPr>
          <a:lstStyle/>
          <a:p>
            <a:pPr algn="l"/>
            <a:r>
              <a:rPr sz="1000" b="1" i="0">
                <a:solidFill>
                  <a:srgbClr val="FFFFFF"/>
                </a:solidFill>
              </a:rPr>
              <a:t>company_
news</a:t>
            </a:r>
          </a:p>
        </p:txBody>
      </p:sp>
      <p:sp>
        <p:nvSpPr>
          <p:cNvPr id="13" name="TextBox 12"/>
          <p:cNvSpPr txBox="1"/>
          <p:nvPr/>
        </p:nvSpPr>
        <p:spPr>
          <a:xfrm>
            <a:off x="393192" y="2331720"/>
            <a:ext cx="1737359" cy="292608"/>
          </a:xfrm>
          <a:prstGeom prst="rect">
            <a:avLst/>
          </a:prstGeom>
          <a:noFill/>
        </p:spPr>
        <p:txBody>
          <a:bodyPr wrap="square">
            <a:spAutoFit/>
          </a:bodyPr>
          <a:lstStyle/>
          <a:p>
            <a:pPr algn="l"/>
            <a:r>
              <a:rPr sz="900" b="0" i="1">
                <a:solidFill>
                  <a:srgbClr val="FBBF24"/>
                </a:solidFill>
              </a:rPr>
              <a:t>Input: company_name</a:t>
            </a:r>
          </a:p>
        </p:txBody>
      </p:sp>
      <p:sp>
        <p:nvSpPr>
          <p:cNvPr id="14" name="TextBox 13"/>
          <p:cNvSpPr txBox="1"/>
          <p:nvPr/>
        </p:nvSpPr>
        <p:spPr>
          <a:xfrm>
            <a:off x="393192" y="2651760"/>
            <a:ext cx="1737359" cy="3566160"/>
          </a:xfrm>
          <a:prstGeom prst="rect">
            <a:avLst/>
          </a:prstGeom>
          <a:noFill/>
        </p:spPr>
        <p:txBody>
          <a:bodyPr wrap="square">
            <a:spAutoFit/>
          </a:bodyPr>
          <a:lstStyle/>
          <a:p>
            <a:pPr algn="l"/>
            <a:r>
              <a:rPr sz="950" b="0" i="0">
                <a:solidFill>
                  <a:srgbClr val="94A3B8"/>
                </a:solidFill>
              </a:rPr>
              <a:t>News API search
Counts recent articles mentioning company
0 articles = no media presence
Found articles = legitimacy signal
Weight in heuristic: 4 pts max</a:t>
            </a:r>
          </a:p>
        </p:txBody>
      </p:sp>
      <p:sp>
        <p:nvSpPr>
          <p:cNvPr id="15" name="Rectangle 14"/>
          <p:cNvSpPr/>
          <p:nvPr/>
        </p:nvSpPr>
        <p:spPr>
          <a:xfrm>
            <a:off x="2295144"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95144" y="1325880"/>
            <a:ext cx="1874519"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417320"/>
            <a:ext cx="320040" cy="292608"/>
          </a:xfrm>
          <a:prstGeom prst="rect">
            <a:avLst/>
          </a:prstGeom>
          <a:noFill/>
        </p:spPr>
        <p:txBody>
          <a:bodyPr wrap="square">
            <a:spAutoFit/>
          </a:bodyPr>
          <a:lstStyle/>
          <a:p>
            <a:pPr algn="l"/>
            <a:r>
              <a:rPr sz="1000" b="1" i="0">
                <a:solidFill>
                  <a:srgbClr val="F87171"/>
                </a:solidFill>
              </a:rPr>
              <a:t>#9</a:t>
            </a:r>
          </a:p>
        </p:txBody>
      </p:sp>
      <p:sp>
        <p:nvSpPr>
          <p:cNvPr id="18" name="TextBox 17"/>
          <p:cNvSpPr txBox="1"/>
          <p:nvPr/>
        </p:nvSpPr>
        <p:spPr>
          <a:xfrm>
            <a:off x="2368296" y="1673352"/>
            <a:ext cx="1737359" cy="640080"/>
          </a:xfrm>
          <a:prstGeom prst="rect">
            <a:avLst/>
          </a:prstGeom>
          <a:noFill/>
        </p:spPr>
        <p:txBody>
          <a:bodyPr wrap="square">
            <a:spAutoFit/>
          </a:bodyPr>
          <a:lstStyle/>
          <a:p>
            <a:pPr algn="l"/>
            <a:r>
              <a:rPr sz="1000" b="1" i="0">
                <a:solidFill>
                  <a:srgbClr val="FFFFFF"/>
                </a:solidFill>
              </a:rPr>
              <a:t>contact_
info</a:t>
            </a:r>
          </a:p>
        </p:txBody>
      </p:sp>
      <p:sp>
        <p:nvSpPr>
          <p:cNvPr id="19" name="TextBox 18"/>
          <p:cNvSpPr txBox="1"/>
          <p:nvPr/>
        </p:nvSpPr>
        <p:spPr>
          <a:xfrm>
            <a:off x="2368296" y="2331720"/>
            <a:ext cx="1737359" cy="292608"/>
          </a:xfrm>
          <a:prstGeom prst="rect">
            <a:avLst/>
          </a:prstGeom>
          <a:noFill/>
        </p:spPr>
        <p:txBody>
          <a:bodyPr wrap="square">
            <a:spAutoFit/>
          </a:bodyPr>
          <a:lstStyle/>
          <a:p>
            <a:pPr algn="l"/>
            <a:r>
              <a:rPr sz="900" b="0" i="1">
                <a:solidFill>
                  <a:srgbClr val="FBBF24"/>
                </a:solidFill>
              </a:rPr>
              <a:t>Input: job_text</a:t>
            </a:r>
          </a:p>
        </p:txBody>
      </p:sp>
      <p:sp>
        <p:nvSpPr>
          <p:cNvPr id="20" name="TextBox 19"/>
          <p:cNvSpPr txBox="1"/>
          <p:nvPr/>
        </p:nvSpPr>
        <p:spPr>
          <a:xfrm>
            <a:off x="2368296" y="2651760"/>
            <a:ext cx="1737359" cy="3566160"/>
          </a:xfrm>
          <a:prstGeom prst="rect">
            <a:avLst/>
          </a:prstGeom>
          <a:noFill/>
        </p:spPr>
        <p:txBody>
          <a:bodyPr wrap="square">
            <a:spAutoFit/>
          </a:bodyPr>
          <a:lstStyle/>
          <a:p>
            <a:pPr algn="l"/>
            <a:r>
              <a:rPr sz="950" b="0" i="0">
                <a:solidFill>
                  <a:srgbClr val="94A3B8"/>
                </a:solidFill>
              </a:rPr>
              <a:t>Scans for suspicious contact patterns
Flags: personal Gmail, Yahoo, Hotmail
Flags: WhatsApp-only contact requests
Flags: foreign phone number formats
Signal: recruiter credibility check</a:t>
            </a:r>
          </a:p>
        </p:txBody>
      </p:sp>
      <p:sp>
        <p:nvSpPr>
          <p:cNvPr id="21" name="Rectangle 20"/>
          <p:cNvSpPr/>
          <p:nvPr/>
        </p:nvSpPr>
        <p:spPr>
          <a:xfrm>
            <a:off x="4270248"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0248" y="1325880"/>
            <a:ext cx="1874519"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417320"/>
            <a:ext cx="320040" cy="292608"/>
          </a:xfrm>
          <a:prstGeom prst="rect">
            <a:avLst/>
          </a:prstGeom>
          <a:noFill/>
        </p:spPr>
        <p:txBody>
          <a:bodyPr wrap="square">
            <a:spAutoFit/>
          </a:bodyPr>
          <a:lstStyle/>
          <a:p>
            <a:pPr algn="l"/>
            <a:r>
              <a:rPr sz="1000" b="1" i="0">
                <a:solidFill>
                  <a:srgbClr val="34D399"/>
                </a:solidFill>
              </a:rPr>
              <a:t>#10</a:t>
            </a:r>
          </a:p>
        </p:txBody>
      </p:sp>
      <p:sp>
        <p:nvSpPr>
          <p:cNvPr id="24" name="TextBox 23"/>
          <p:cNvSpPr txBox="1"/>
          <p:nvPr/>
        </p:nvSpPr>
        <p:spPr>
          <a:xfrm>
            <a:off x="4343400" y="1673352"/>
            <a:ext cx="1737359" cy="640080"/>
          </a:xfrm>
          <a:prstGeom prst="rect">
            <a:avLst/>
          </a:prstGeom>
          <a:noFill/>
        </p:spPr>
        <p:txBody>
          <a:bodyPr wrap="square">
            <a:spAutoFit/>
          </a:bodyPr>
          <a:lstStyle/>
          <a:p>
            <a:pPr algn="l"/>
            <a:r>
              <a:rPr sz="1000" b="1" i="0">
                <a:solidFill>
                  <a:srgbClr val="FFFFFF"/>
                </a:solidFill>
              </a:rPr>
              <a:t>salary_
analysis</a:t>
            </a:r>
          </a:p>
        </p:txBody>
      </p:sp>
      <p:sp>
        <p:nvSpPr>
          <p:cNvPr id="25" name="TextBox 24"/>
          <p:cNvSpPr txBox="1"/>
          <p:nvPr/>
        </p:nvSpPr>
        <p:spPr>
          <a:xfrm>
            <a:off x="4343400" y="2331720"/>
            <a:ext cx="1737359" cy="292608"/>
          </a:xfrm>
          <a:prstGeom prst="rect">
            <a:avLst/>
          </a:prstGeom>
          <a:noFill/>
        </p:spPr>
        <p:txBody>
          <a:bodyPr wrap="square">
            <a:spAutoFit/>
          </a:bodyPr>
          <a:lstStyle/>
          <a:p>
            <a:pPr algn="l"/>
            <a:r>
              <a:rPr sz="900" b="0" i="1">
                <a:solidFill>
                  <a:srgbClr val="FBBF24"/>
                </a:solidFill>
              </a:rPr>
              <a:t>Input: job_text</a:t>
            </a:r>
          </a:p>
        </p:txBody>
      </p:sp>
      <p:sp>
        <p:nvSpPr>
          <p:cNvPr id="26" name="TextBox 25"/>
          <p:cNvSpPr txBox="1"/>
          <p:nvPr/>
        </p:nvSpPr>
        <p:spPr>
          <a:xfrm>
            <a:off x="4343400" y="2651760"/>
            <a:ext cx="1737359" cy="3566160"/>
          </a:xfrm>
          <a:prstGeom prst="rect">
            <a:avLst/>
          </a:prstGeom>
          <a:noFill/>
        </p:spPr>
        <p:txBody>
          <a:bodyPr wrap="square">
            <a:spAutoFit/>
          </a:bodyPr>
          <a:lstStyle/>
          <a:p>
            <a:pPr algn="l"/>
            <a:r>
              <a:rPr sz="950" b="0" i="0">
                <a:solidFill>
                  <a:srgbClr val="94A3B8"/>
                </a:solidFill>
              </a:rPr>
              <a:t>Extracts salary figures from text
Flags unrealistic pay ranges
'$5000/day no experience' = HIGH risk
Compares against job title benchmarks
Signal: bait-offer detection</a:t>
            </a:r>
          </a:p>
        </p:txBody>
      </p:sp>
      <p:sp>
        <p:nvSpPr>
          <p:cNvPr id="27" name="Rectangle 26"/>
          <p:cNvSpPr/>
          <p:nvPr/>
        </p:nvSpPr>
        <p:spPr>
          <a:xfrm>
            <a:off x="6245352"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5352" y="1325880"/>
            <a:ext cx="1874519"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8504" y="1417320"/>
            <a:ext cx="320040" cy="292608"/>
          </a:xfrm>
          <a:prstGeom prst="rect">
            <a:avLst/>
          </a:prstGeom>
          <a:noFill/>
        </p:spPr>
        <p:txBody>
          <a:bodyPr wrap="square">
            <a:spAutoFit/>
          </a:bodyPr>
          <a:lstStyle/>
          <a:p>
            <a:pPr algn="l"/>
            <a:r>
              <a:rPr sz="1000" b="1" i="0">
                <a:solidFill>
                  <a:srgbClr val="38BDF8"/>
                </a:solidFill>
              </a:rPr>
              <a:t>#11</a:t>
            </a:r>
          </a:p>
        </p:txBody>
      </p:sp>
      <p:sp>
        <p:nvSpPr>
          <p:cNvPr id="30" name="TextBox 29"/>
          <p:cNvSpPr txBox="1"/>
          <p:nvPr/>
        </p:nvSpPr>
        <p:spPr>
          <a:xfrm>
            <a:off x="6318504" y="1673352"/>
            <a:ext cx="1737359" cy="640080"/>
          </a:xfrm>
          <a:prstGeom prst="rect">
            <a:avLst/>
          </a:prstGeom>
          <a:noFill/>
        </p:spPr>
        <p:txBody>
          <a:bodyPr wrap="square">
            <a:spAutoFit/>
          </a:bodyPr>
          <a:lstStyle/>
          <a:p>
            <a:pPr algn="l"/>
            <a:r>
              <a:rPr sz="1000" b="1" i="0">
                <a:solidFill>
                  <a:srgbClr val="FFFFFF"/>
                </a:solidFill>
              </a:rPr>
              <a:t>requirements_
analysis</a:t>
            </a:r>
          </a:p>
        </p:txBody>
      </p:sp>
      <p:sp>
        <p:nvSpPr>
          <p:cNvPr id="31" name="TextBox 30"/>
          <p:cNvSpPr txBox="1"/>
          <p:nvPr/>
        </p:nvSpPr>
        <p:spPr>
          <a:xfrm>
            <a:off x="6318504" y="2331720"/>
            <a:ext cx="1737359" cy="292608"/>
          </a:xfrm>
          <a:prstGeom prst="rect">
            <a:avLst/>
          </a:prstGeom>
          <a:noFill/>
        </p:spPr>
        <p:txBody>
          <a:bodyPr wrap="square">
            <a:spAutoFit/>
          </a:bodyPr>
          <a:lstStyle/>
          <a:p>
            <a:pPr algn="l"/>
            <a:r>
              <a:rPr sz="900" b="0" i="1">
                <a:solidFill>
                  <a:srgbClr val="FBBF24"/>
                </a:solidFill>
              </a:rPr>
              <a:t>Input: job_text</a:t>
            </a:r>
          </a:p>
        </p:txBody>
      </p:sp>
      <p:sp>
        <p:nvSpPr>
          <p:cNvPr id="32" name="TextBox 31"/>
          <p:cNvSpPr txBox="1"/>
          <p:nvPr/>
        </p:nvSpPr>
        <p:spPr>
          <a:xfrm>
            <a:off x="6318504" y="2651760"/>
            <a:ext cx="1737359" cy="3566160"/>
          </a:xfrm>
          <a:prstGeom prst="rect">
            <a:avLst/>
          </a:prstGeom>
          <a:noFill/>
        </p:spPr>
        <p:txBody>
          <a:bodyPr wrap="square">
            <a:spAutoFit/>
          </a:bodyPr>
          <a:lstStyle/>
          <a:p>
            <a:pPr algn="l"/>
            <a:r>
              <a:rPr sz="950" b="0" i="0">
                <a:solidFill>
                  <a:srgbClr val="94A3B8"/>
                </a:solidFill>
              </a:rPr>
              <a:t>Analyzes job requirements section
Flags vague or absent requirements
'No experience needed' + high pay = fraud
Checks for credential verification
Signal: job posting quality</a:t>
            </a:r>
          </a:p>
        </p:txBody>
      </p:sp>
      <p:sp>
        <p:nvSpPr>
          <p:cNvPr id="33" name="Rectangle 32"/>
          <p:cNvSpPr/>
          <p:nvPr/>
        </p:nvSpPr>
        <p:spPr>
          <a:xfrm>
            <a:off x="8220456"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0456" y="1325880"/>
            <a:ext cx="1874519"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93608" y="1417320"/>
            <a:ext cx="320040" cy="292608"/>
          </a:xfrm>
          <a:prstGeom prst="rect">
            <a:avLst/>
          </a:prstGeom>
          <a:noFill/>
        </p:spPr>
        <p:txBody>
          <a:bodyPr wrap="square">
            <a:spAutoFit/>
          </a:bodyPr>
          <a:lstStyle/>
          <a:p>
            <a:pPr algn="l"/>
            <a:r>
              <a:rPr sz="1000" b="1" i="0">
                <a:solidFill>
                  <a:srgbClr val="A78BFA"/>
                </a:solidFill>
              </a:rPr>
              <a:t>#12</a:t>
            </a:r>
          </a:p>
        </p:txBody>
      </p:sp>
      <p:sp>
        <p:nvSpPr>
          <p:cNvPr id="36" name="TextBox 35"/>
          <p:cNvSpPr txBox="1"/>
          <p:nvPr/>
        </p:nvSpPr>
        <p:spPr>
          <a:xfrm>
            <a:off x="8293608" y="1673352"/>
            <a:ext cx="1737359" cy="640080"/>
          </a:xfrm>
          <a:prstGeom prst="rect">
            <a:avLst/>
          </a:prstGeom>
          <a:noFill/>
        </p:spPr>
        <p:txBody>
          <a:bodyPr wrap="square">
            <a:spAutoFit/>
          </a:bodyPr>
          <a:lstStyle/>
          <a:p>
            <a:pPr algn="l"/>
            <a:r>
              <a:rPr sz="1000" b="1" i="0">
                <a:solidFill>
                  <a:srgbClr val="FFFFFF"/>
                </a:solidFill>
              </a:rPr>
              <a:t>company_
registration</a:t>
            </a:r>
          </a:p>
        </p:txBody>
      </p:sp>
      <p:sp>
        <p:nvSpPr>
          <p:cNvPr id="37" name="TextBox 36"/>
          <p:cNvSpPr txBox="1"/>
          <p:nvPr/>
        </p:nvSpPr>
        <p:spPr>
          <a:xfrm>
            <a:off x="8293608" y="2331720"/>
            <a:ext cx="1737359" cy="292608"/>
          </a:xfrm>
          <a:prstGeom prst="rect">
            <a:avLst/>
          </a:prstGeom>
          <a:noFill/>
        </p:spPr>
        <p:txBody>
          <a:bodyPr wrap="square">
            <a:spAutoFit/>
          </a:bodyPr>
          <a:lstStyle/>
          <a:p>
            <a:pPr algn="l"/>
            <a:r>
              <a:rPr sz="900" b="0" i="1">
                <a:solidFill>
                  <a:srgbClr val="FBBF24"/>
                </a:solidFill>
              </a:rPr>
              <a:t>Input: company_name</a:t>
            </a:r>
          </a:p>
        </p:txBody>
      </p:sp>
      <p:sp>
        <p:nvSpPr>
          <p:cNvPr id="38" name="TextBox 37"/>
          <p:cNvSpPr txBox="1"/>
          <p:nvPr/>
        </p:nvSpPr>
        <p:spPr>
          <a:xfrm>
            <a:off x="8293608" y="2651760"/>
            <a:ext cx="1737359" cy="3566160"/>
          </a:xfrm>
          <a:prstGeom prst="rect">
            <a:avLst/>
          </a:prstGeom>
          <a:noFill/>
        </p:spPr>
        <p:txBody>
          <a:bodyPr wrap="square">
            <a:spAutoFit/>
          </a:bodyPr>
          <a:lstStyle/>
          <a:p>
            <a:pPr algn="l"/>
            <a:r>
              <a:rPr sz="950" b="0" i="0">
                <a:solidFill>
                  <a:srgbClr val="94A3B8"/>
                </a:solidFill>
              </a:rPr>
              <a:t>Business registry lookup
Checks official company registrations
Verifies company exists legally
Cross-checks incorporation date
Signal: company legitimacy</a:t>
            </a:r>
          </a:p>
        </p:txBody>
      </p:sp>
      <p:sp>
        <p:nvSpPr>
          <p:cNvPr id="39" name="Rectangle 38"/>
          <p:cNvSpPr/>
          <p:nvPr/>
        </p:nvSpPr>
        <p:spPr>
          <a:xfrm>
            <a:off x="10195560" y="1325880"/>
            <a:ext cx="1874519"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95560" y="1325880"/>
            <a:ext cx="1874519"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68712" y="1417320"/>
            <a:ext cx="320040" cy="292608"/>
          </a:xfrm>
          <a:prstGeom prst="rect">
            <a:avLst/>
          </a:prstGeom>
          <a:noFill/>
        </p:spPr>
        <p:txBody>
          <a:bodyPr wrap="square">
            <a:spAutoFit/>
          </a:bodyPr>
          <a:lstStyle/>
          <a:p>
            <a:pPr algn="l"/>
            <a:r>
              <a:rPr sz="1000" b="1" i="0">
                <a:solidFill>
                  <a:srgbClr val="FBBF24"/>
                </a:solidFill>
              </a:rPr>
              <a:t>#13</a:t>
            </a:r>
          </a:p>
        </p:txBody>
      </p:sp>
      <p:sp>
        <p:nvSpPr>
          <p:cNvPr id="42" name="TextBox 41"/>
          <p:cNvSpPr txBox="1"/>
          <p:nvPr/>
        </p:nvSpPr>
        <p:spPr>
          <a:xfrm>
            <a:off x="10268712" y="1673352"/>
            <a:ext cx="1737359" cy="640080"/>
          </a:xfrm>
          <a:prstGeom prst="rect">
            <a:avLst/>
          </a:prstGeom>
          <a:noFill/>
        </p:spPr>
        <p:txBody>
          <a:bodyPr wrap="square">
            <a:spAutoFit/>
          </a:bodyPr>
          <a:lstStyle/>
          <a:p>
            <a:pPr algn="l"/>
            <a:r>
              <a:rPr sz="1000" b="1" i="0">
                <a:solidFill>
                  <a:srgbClr val="FFFFFF"/>
                </a:solidFill>
              </a:rPr>
              <a:t>location_
verify</a:t>
            </a:r>
          </a:p>
        </p:txBody>
      </p:sp>
      <p:sp>
        <p:nvSpPr>
          <p:cNvPr id="43" name="TextBox 42"/>
          <p:cNvSpPr txBox="1"/>
          <p:nvPr/>
        </p:nvSpPr>
        <p:spPr>
          <a:xfrm>
            <a:off x="10268712" y="2331720"/>
            <a:ext cx="1737359" cy="292608"/>
          </a:xfrm>
          <a:prstGeom prst="rect">
            <a:avLst/>
          </a:prstGeom>
          <a:noFill/>
        </p:spPr>
        <p:txBody>
          <a:bodyPr wrap="square">
            <a:spAutoFit/>
          </a:bodyPr>
          <a:lstStyle/>
          <a:p>
            <a:pPr algn="l"/>
            <a:r>
              <a:rPr sz="900" b="0" i="1">
                <a:solidFill>
                  <a:srgbClr val="FBBF24"/>
                </a:solidFill>
              </a:rPr>
              <a:t>Input: location + company</a:t>
            </a:r>
          </a:p>
        </p:txBody>
      </p:sp>
      <p:sp>
        <p:nvSpPr>
          <p:cNvPr id="44" name="TextBox 43"/>
          <p:cNvSpPr txBox="1"/>
          <p:nvPr/>
        </p:nvSpPr>
        <p:spPr>
          <a:xfrm>
            <a:off x="10268712" y="2651760"/>
            <a:ext cx="1737359" cy="3566160"/>
          </a:xfrm>
          <a:prstGeom prst="rect">
            <a:avLst/>
          </a:prstGeom>
          <a:noFill/>
        </p:spPr>
        <p:txBody>
          <a:bodyPr wrap="square">
            <a:spAutoFit/>
          </a:bodyPr>
          <a:lstStyle/>
          <a:p>
            <a:pPr algn="l"/>
            <a:r>
              <a:rPr sz="950" b="0" i="0">
                <a:solidFill>
                  <a:srgbClr val="94A3B8"/>
                </a:solidFill>
              </a:rPr>
              <a:t>Address and location plausibility
Checks city/country combination
Verifies company offices in claimed city
Flags mismatches (e.g., 'Remote' abuse)
Signal: geographic consistency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Verdict Engine — How the Final Decision Is Made</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Two-path system: LLM narrative verdict + weighted heuristic fallback</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47120" y="182880"/>
            <a:ext cx="685800" cy="274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208280"/>
            <a:ext cx="685800" cy="274320"/>
          </a:xfrm>
          <a:prstGeom prst="rect">
            <a:avLst/>
          </a:prstGeom>
          <a:noFill/>
        </p:spPr>
        <p:txBody>
          <a:bodyPr wrap="square">
            <a:spAutoFit/>
          </a:bodyPr>
          <a:lstStyle/>
          <a:p>
            <a:pPr algn="ctr"/>
            <a:r>
              <a:rPr sz="1100" b="1" i="0">
                <a:solidFill>
                  <a:srgbClr val="0D111A"/>
                </a:solidFill>
              </a:rPr>
              <a:t>V2</a:t>
            </a:r>
          </a:p>
        </p:txBody>
      </p:sp>
      <p:sp>
        <p:nvSpPr>
          <p:cNvPr id="9" name="Rectangle 8"/>
          <p:cNvSpPr/>
          <p:nvPr/>
        </p:nvSpPr>
        <p:spPr>
          <a:xfrm>
            <a:off x="365760" y="1298448"/>
            <a:ext cx="5394960"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298448"/>
            <a:ext cx="539496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17320"/>
            <a:ext cx="5029200" cy="411480"/>
          </a:xfrm>
          <a:prstGeom prst="rect">
            <a:avLst/>
          </a:prstGeom>
          <a:noFill/>
        </p:spPr>
        <p:txBody>
          <a:bodyPr wrap="square">
            <a:spAutoFit/>
          </a:bodyPr>
          <a:lstStyle/>
          <a:p>
            <a:pPr algn="l"/>
            <a:r>
              <a:rPr sz="1300" b="1" i="0">
                <a:solidFill>
                  <a:srgbClr val="FBBF24"/>
                </a:solidFill>
              </a:rPr>
              <a:t>Path A — LLM Final Summary  (primary)</a:t>
            </a:r>
          </a:p>
        </p:txBody>
      </p:sp>
      <p:sp>
        <p:nvSpPr>
          <p:cNvPr id="12" name="TextBox 11"/>
          <p:cNvSpPr txBox="1"/>
          <p:nvPr/>
        </p:nvSpPr>
        <p:spPr>
          <a:xfrm>
            <a:off x="548640" y="1920240"/>
            <a:ext cx="5029200" cy="4297680"/>
          </a:xfrm>
          <a:prstGeom prst="rect">
            <a:avLst/>
          </a:prstGeom>
          <a:noFill/>
        </p:spPr>
        <p:txBody>
          <a:bodyPr wrap="square">
            <a:spAutoFit/>
          </a:bodyPr>
          <a:lstStyle/>
          <a:p>
            <a:pPr algn="l"/>
            <a:r>
              <a:rPr sz="1100" b="0" i="0">
                <a:solidFill>
                  <a:srgbClr val="94A3B8"/>
                </a:solidFill>
              </a:rPr>
              <a:t>POST /api/v1/llm/final-summary
Input:
  • Full job posting (title, company, description)
  • All 13 tool result objects
  • Optional LLM config (key, model, base URL)
The LLM reads every signal and writes:
  • Human-readable fraud report
  • Narrative explaining key red flags found
  • Final verdict: SAFE / SUSPICIOUS / LIKELY_FAKE
Default model: openai/gpt-4.1-mini via AIPipe
Configurable: any OpenAI-compatible endpoint
Timeout: 50 seconds</a:t>
            </a:r>
          </a:p>
        </p:txBody>
      </p:sp>
      <p:sp>
        <p:nvSpPr>
          <p:cNvPr id="13" name="TextBox 12"/>
          <p:cNvSpPr txBox="1"/>
          <p:nvPr/>
        </p:nvSpPr>
        <p:spPr>
          <a:xfrm>
            <a:off x="5943600" y="3200400"/>
            <a:ext cx="731520" cy="731520"/>
          </a:xfrm>
          <a:prstGeom prst="rect">
            <a:avLst/>
          </a:prstGeom>
          <a:noFill/>
        </p:spPr>
        <p:txBody>
          <a:bodyPr wrap="square">
            <a:spAutoFit/>
          </a:bodyPr>
          <a:lstStyle/>
          <a:p>
            <a:pPr algn="ctr"/>
            <a:r>
              <a:rPr sz="1000" b="0" i="1">
                <a:solidFill>
                  <a:srgbClr val="94A3B8"/>
                </a:solidFill>
              </a:rPr>
              <a:t>If LLM
fails ↓</a:t>
            </a:r>
          </a:p>
        </p:txBody>
      </p:sp>
      <p:sp>
        <p:nvSpPr>
          <p:cNvPr id="14" name="Rectangle 13"/>
          <p:cNvSpPr/>
          <p:nvPr/>
        </p:nvSpPr>
        <p:spPr>
          <a:xfrm>
            <a:off x="6400800" y="1298448"/>
            <a:ext cx="5486400" cy="516636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298448"/>
            <a:ext cx="5486400"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417320"/>
            <a:ext cx="5120640" cy="411480"/>
          </a:xfrm>
          <a:prstGeom prst="rect">
            <a:avLst/>
          </a:prstGeom>
          <a:noFill/>
        </p:spPr>
        <p:txBody>
          <a:bodyPr wrap="square">
            <a:spAutoFit/>
          </a:bodyPr>
          <a:lstStyle/>
          <a:p>
            <a:pPr algn="l"/>
            <a:r>
              <a:rPr sz="1300" b="1" i="0">
                <a:solidFill>
                  <a:srgbClr val="A78BFA"/>
                </a:solidFill>
              </a:rPr>
              <a:t>Path B — Weighted Heuristic  (fallback)</a:t>
            </a:r>
          </a:p>
        </p:txBody>
      </p:sp>
      <p:sp>
        <p:nvSpPr>
          <p:cNvPr id="17" name="TextBox 16"/>
          <p:cNvSpPr txBox="1"/>
          <p:nvPr/>
        </p:nvSpPr>
        <p:spPr>
          <a:xfrm>
            <a:off x="6583680" y="1920240"/>
            <a:ext cx="5120640" cy="292608"/>
          </a:xfrm>
          <a:prstGeom prst="rect">
            <a:avLst/>
          </a:prstGeom>
          <a:noFill/>
        </p:spPr>
        <p:txBody>
          <a:bodyPr wrap="square">
            <a:spAutoFit/>
          </a:bodyPr>
          <a:lstStyle/>
          <a:p>
            <a:pPr algn="l"/>
            <a:r>
              <a:rPr sz="1000" b="1" i="0">
                <a:solidFill>
                  <a:srgbClr val="94A3B8"/>
                </a:solidFill>
              </a:rPr>
              <a:t>Max pts  Tool</a:t>
            </a:r>
          </a:p>
        </p:txBody>
      </p:sp>
      <p:sp>
        <p:nvSpPr>
          <p:cNvPr id="18" name="Rectangle 17"/>
          <p:cNvSpPr/>
          <p:nvPr/>
        </p:nvSpPr>
        <p:spPr>
          <a:xfrm>
            <a:off x="6583680" y="2212848"/>
            <a:ext cx="516636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2331720"/>
            <a:ext cx="1371600" cy="21945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286000"/>
            <a:ext cx="411480" cy="292608"/>
          </a:xfrm>
          <a:prstGeom prst="rect">
            <a:avLst/>
          </a:prstGeom>
          <a:noFill/>
        </p:spPr>
        <p:txBody>
          <a:bodyPr wrap="square">
            <a:spAutoFit/>
          </a:bodyPr>
          <a:lstStyle/>
          <a:p>
            <a:pPr algn="r"/>
            <a:r>
              <a:rPr sz="1100" b="1" i="0">
                <a:solidFill>
                  <a:srgbClr val="34D399"/>
                </a:solidFill>
              </a:rPr>
              <a:t>40</a:t>
            </a:r>
          </a:p>
        </p:txBody>
      </p:sp>
      <p:sp>
        <p:nvSpPr>
          <p:cNvPr id="21" name="TextBox 20"/>
          <p:cNvSpPr txBox="1"/>
          <p:nvPr/>
        </p:nvSpPr>
        <p:spPr>
          <a:xfrm>
            <a:off x="7086600" y="2286000"/>
            <a:ext cx="3657600" cy="292608"/>
          </a:xfrm>
          <a:prstGeom prst="rect">
            <a:avLst/>
          </a:prstGeom>
          <a:noFill/>
        </p:spPr>
        <p:txBody>
          <a:bodyPr wrap="square">
            <a:spAutoFit/>
          </a:bodyPr>
          <a:lstStyle/>
          <a:p>
            <a:pPr algn="l"/>
            <a:r>
              <a:rPr sz="1000" b="0" i="0">
                <a:solidFill>
                  <a:srgbClr val="FFFFFF"/>
                </a:solidFill>
              </a:rPr>
              <a:t>roberta_classifier</a:t>
            </a:r>
          </a:p>
        </p:txBody>
      </p:sp>
      <p:sp>
        <p:nvSpPr>
          <p:cNvPr id="22" name="Rectangle 21"/>
          <p:cNvSpPr/>
          <p:nvPr/>
        </p:nvSpPr>
        <p:spPr>
          <a:xfrm>
            <a:off x="6583680" y="2679192"/>
            <a:ext cx="857250" cy="21945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633472"/>
            <a:ext cx="411480" cy="292608"/>
          </a:xfrm>
          <a:prstGeom prst="rect">
            <a:avLst/>
          </a:prstGeom>
          <a:noFill/>
        </p:spPr>
        <p:txBody>
          <a:bodyPr wrap="square">
            <a:spAutoFit/>
          </a:bodyPr>
          <a:lstStyle/>
          <a:p>
            <a:pPr algn="r"/>
            <a:r>
              <a:rPr sz="1100" b="1" i="0">
                <a:solidFill>
                  <a:srgbClr val="F87171"/>
                </a:solidFill>
              </a:rPr>
              <a:t>25</a:t>
            </a:r>
          </a:p>
        </p:txBody>
      </p:sp>
      <p:sp>
        <p:nvSpPr>
          <p:cNvPr id="24" name="TextBox 23"/>
          <p:cNvSpPr txBox="1"/>
          <p:nvPr/>
        </p:nvSpPr>
        <p:spPr>
          <a:xfrm>
            <a:off x="7086600" y="2633472"/>
            <a:ext cx="3657600" cy="292608"/>
          </a:xfrm>
          <a:prstGeom prst="rect">
            <a:avLst/>
          </a:prstGeom>
          <a:noFill/>
        </p:spPr>
        <p:txBody>
          <a:bodyPr wrap="square">
            <a:spAutoFit/>
          </a:bodyPr>
          <a:lstStyle/>
          <a:p>
            <a:pPr algn="l"/>
            <a:r>
              <a:rPr sz="1000" b="0" i="0">
                <a:solidFill>
                  <a:srgbClr val="FFFFFF"/>
                </a:solidFill>
              </a:rPr>
              <a:t>scam_signals</a:t>
            </a:r>
          </a:p>
        </p:txBody>
      </p:sp>
      <p:sp>
        <p:nvSpPr>
          <p:cNvPr id="25" name="Rectangle 24"/>
          <p:cNvSpPr/>
          <p:nvPr/>
        </p:nvSpPr>
        <p:spPr>
          <a:xfrm>
            <a:off x="6583680" y="3026664"/>
            <a:ext cx="514350" cy="21945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980944"/>
            <a:ext cx="411480" cy="292608"/>
          </a:xfrm>
          <a:prstGeom prst="rect">
            <a:avLst/>
          </a:prstGeom>
          <a:noFill/>
        </p:spPr>
        <p:txBody>
          <a:bodyPr wrap="square">
            <a:spAutoFit/>
          </a:bodyPr>
          <a:lstStyle/>
          <a:p>
            <a:pPr algn="r"/>
            <a:r>
              <a:rPr sz="1100" b="1" i="0">
                <a:solidFill>
                  <a:srgbClr val="FBBF24"/>
                </a:solidFill>
              </a:rPr>
              <a:t>15</a:t>
            </a:r>
          </a:p>
        </p:txBody>
      </p:sp>
      <p:sp>
        <p:nvSpPr>
          <p:cNvPr id="27" name="TextBox 26"/>
          <p:cNvSpPr txBox="1"/>
          <p:nvPr/>
        </p:nvSpPr>
        <p:spPr>
          <a:xfrm>
            <a:off x="7086600" y="2980944"/>
            <a:ext cx="3657600" cy="292608"/>
          </a:xfrm>
          <a:prstGeom prst="rect">
            <a:avLst/>
          </a:prstGeom>
          <a:noFill/>
        </p:spPr>
        <p:txBody>
          <a:bodyPr wrap="square">
            <a:spAutoFit/>
          </a:bodyPr>
          <a:lstStyle/>
          <a:p>
            <a:pPr algn="l"/>
            <a:r>
              <a:rPr sz="1000" b="0" i="0">
                <a:solidFill>
                  <a:srgbClr val="FFFFFF"/>
                </a:solidFill>
              </a:rPr>
              <a:t>domain_reputation</a:t>
            </a:r>
          </a:p>
        </p:txBody>
      </p:sp>
      <p:sp>
        <p:nvSpPr>
          <p:cNvPr id="28" name="Rectangle 27"/>
          <p:cNvSpPr/>
          <p:nvPr/>
        </p:nvSpPr>
        <p:spPr>
          <a:xfrm>
            <a:off x="6583680" y="3374136"/>
            <a:ext cx="274320" cy="21945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328416"/>
            <a:ext cx="411480" cy="292608"/>
          </a:xfrm>
          <a:prstGeom prst="rect">
            <a:avLst/>
          </a:prstGeom>
          <a:noFill/>
        </p:spPr>
        <p:txBody>
          <a:bodyPr wrap="square">
            <a:spAutoFit/>
          </a:bodyPr>
          <a:lstStyle/>
          <a:p>
            <a:pPr algn="r"/>
            <a:r>
              <a:rPr sz="1100" b="1" i="0">
                <a:solidFill>
                  <a:srgbClr val="38BDF8"/>
                </a:solidFill>
              </a:rPr>
              <a:t>8</a:t>
            </a:r>
          </a:p>
        </p:txBody>
      </p:sp>
      <p:sp>
        <p:nvSpPr>
          <p:cNvPr id="30" name="TextBox 29"/>
          <p:cNvSpPr txBox="1"/>
          <p:nvPr/>
        </p:nvSpPr>
        <p:spPr>
          <a:xfrm>
            <a:off x="7086600" y="3328416"/>
            <a:ext cx="3657600" cy="292608"/>
          </a:xfrm>
          <a:prstGeom prst="rect">
            <a:avLst/>
          </a:prstGeom>
          <a:noFill/>
        </p:spPr>
        <p:txBody>
          <a:bodyPr wrap="square">
            <a:spAutoFit/>
          </a:bodyPr>
          <a:lstStyle/>
          <a:p>
            <a:pPr algn="l"/>
            <a:r>
              <a:rPr sz="1000" b="0" i="0">
                <a:solidFill>
                  <a:srgbClr val="FFFFFF"/>
                </a:solidFill>
              </a:rPr>
              <a:t>website_verify</a:t>
            </a:r>
          </a:p>
        </p:txBody>
      </p:sp>
      <p:sp>
        <p:nvSpPr>
          <p:cNvPr id="31" name="Rectangle 30"/>
          <p:cNvSpPr/>
          <p:nvPr/>
        </p:nvSpPr>
        <p:spPr>
          <a:xfrm>
            <a:off x="6583680" y="3721608"/>
            <a:ext cx="274320" cy="21945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3675888"/>
            <a:ext cx="411480" cy="292608"/>
          </a:xfrm>
          <a:prstGeom prst="rect">
            <a:avLst/>
          </a:prstGeom>
          <a:noFill/>
        </p:spPr>
        <p:txBody>
          <a:bodyPr wrap="square">
            <a:spAutoFit/>
          </a:bodyPr>
          <a:lstStyle/>
          <a:p>
            <a:pPr algn="r"/>
            <a:r>
              <a:rPr sz="1100" b="1" i="0">
                <a:solidFill>
                  <a:srgbClr val="38BDF8"/>
                </a:solidFill>
              </a:rPr>
              <a:t>8</a:t>
            </a:r>
          </a:p>
        </p:txBody>
      </p:sp>
      <p:sp>
        <p:nvSpPr>
          <p:cNvPr id="33" name="TextBox 32"/>
          <p:cNvSpPr txBox="1"/>
          <p:nvPr/>
        </p:nvSpPr>
        <p:spPr>
          <a:xfrm>
            <a:off x="7086600" y="3675888"/>
            <a:ext cx="3657600" cy="292608"/>
          </a:xfrm>
          <a:prstGeom prst="rect">
            <a:avLst/>
          </a:prstGeom>
          <a:noFill/>
        </p:spPr>
        <p:txBody>
          <a:bodyPr wrap="square">
            <a:spAutoFit/>
          </a:bodyPr>
          <a:lstStyle/>
          <a:p>
            <a:pPr algn="l"/>
            <a:r>
              <a:rPr sz="1000" b="0" i="0">
                <a:solidFill>
                  <a:srgbClr val="FFFFFF"/>
                </a:solidFill>
              </a:rPr>
              <a:t>social_profiles</a:t>
            </a:r>
          </a:p>
        </p:txBody>
      </p:sp>
      <p:sp>
        <p:nvSpPr>
          <p:cNvPr id="34" name="Rectangle 33"/>
          <p:cNvSpPr/>
          <p:nvPr/>
        </p:nvSpPr>
        <p:spPr>
          <a:xfrm>
            <a:off x="6583680" y="4069080"/>
            <a:ext cx="205740" cy="21945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023360"/>
            <a:ext cx="411480" cy="292608"/>
          </a:xfrm>
          <a:prstGeom prst="rect">
            <a:avLst/>
          </a:prstGeom>
          <a:noFill/>
        </p:spPr>
        <p:txBody>
          <a:bodyPr wrap="square">
            <a:spAutoFit/>
          </a:bodyPr>
          <a:lstStyle/>
          <a:p>
            <a:pPr algn="r"/>
            <a:r>
              <a:rPr sz="1100" b="1" i="0">
                <a:solidFill>
                  <a:srgbClr val="94A3B8"/>
                </a:solidFill>
              </a:rPr>
              <a:t>6</a:t>
            </a:r>
          </a:p>
        </p:txBody>
      </p:sp>
      <p:sp>
        <p:nvSpPr>
          <p:cNvPr id="36" name="TextBox 35"/>
          <p:cNvSpPr txBox="1"/>
          <p:nvPr/>
        </p:nvSpPr>
        <p:spPr>
          <a:xfrm>
            <a:off x="7086600" y="4023360"/>
            <a:ext cx="3657600" cy="292608"/>
          </a:xfrm>
          <a:prstGeom prst="rect">
            <a:avLst/>
          </a:prstGeom>
          <a:noFill/>
        </p:spPr>
        <p:txBody>
          <a:bodyPr wrap="square">
            <a:spAutoFit/>
          </a:bodyPr>
          <a:lstStyle/>
          <a:p>
            <a:pPr algn="l"/>
            <a:r>
              <a:rPr sz="1000" b="0" i="0">
                <a:solidFill>
                  <a:srgbClr val="FFFFFF"/>
                </a:solidFill>
              </a:rPr>
              <a:t>job_boards</a:t>
            </a:r>
          </a:p>
        </p:txBody>
      </p:sp>
      <p:sp>
        <p:nvSpPr>
          <p:cNvPr id="37" name="Rectangle 36"/>
          <p:cNvSpPr/>
          <p:nvPr/>
        </p:nvSpPr>
        <p:spPr>
          <a:xfrm>
            <a:off x="6583680" y="4416552"/>
            <a:ext cx="137160" cy="21945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4370832"/>
            <a:ext cx="411480" cy="292608"/>
          </a:xfrm>
          <a:prstGeom prst="rect">
            <a:avLst/>
          </a:prstGeom>
          <a:noFill/>
        </p:spPr>
        <p:txBody>
          <a:bodyPr wrap="square">
            <a:spAutoFit/>
          </a:bodyPr>
          <a:lstStyle/>
          <a:p>
            <a:pPr algn="r"/>
            <a:r>
              <a:rPr sz="1100" b="1" i="0">
                <a:solidFill>
                  <a:srgbClr val="94A3B8"/>
                </a:solidFill>
              </a:rPr>
              <a:t>4</a:t>
            </a:r>
          </a:p>
        </p:txBody>
      </p:sp>
      <p:sp>
        <p:nvSpPr>
          <p:cNvPr id="39" name="TextBox 38"/>
          <p:cNvSpPr txBox="1"/>
          <p:nvPr/>
        </p:nvSpPr>
        <p:spPr>
          <a:xfrm>
            <a:off x="7086600" y="4370832"/>
            <a:ext cx="3657600" cy="292608"/>
          </a:xfrm>
          <a:prstGeom prst="rect">
            <a:avLst/>
          </a:prstGeom>
          <a:noFill/>
        </p:spPr>
        <p:txBody>
          <a:bodyPr wrap="square">
            <a:spAutoFit/>
          </a:bodyPr>
          <a:lstStyle/>
          <a:p>
            <a:pPr algn="l"/>
            <a:r>
              <a:rPr sz="1000" b="0" i="0">
                <a:solidFill>
                  <a:srgbClr val="FFFFFF"/>
                </a:solidFill>
              </a:rPr>
              <a:t>company_wikipedia</a:t>
            </a:r>
          </a:p>
        </p:txBody>
      </p:sp>
      <p:sp>
        <p:nvSpPr>
          <p:cNvPr id="40" name="Rectangle 39"/>
          <p:cNvSpPr/>
          <p:nvPr/>
        </p:nvSpPr>
        <p:spPr>
          <a:xfrm>
            <a:off x="6583680" y="4764024"/>
            <a:ext cx="137160" cy="21945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4718304"/>
            <a:ext cx="411480" cy="292608"/>
          </a:xfrm>
          <a:prstGeom prst="rect">
            <a:avLst/>
          </a:prstGeom>
          <a:noFill/>
        </p:spPr>
        <p:txBody>
          <a:bodyPr wrap="square">
            <a:spAutoFit/>
          </a:bodyPr>
          <a:lstStyle/>
          <a:p>
            <a:pPr algn="r"/>
            <a:r>
              <a:rPr sz="1100" b="1" i="0">
                <a:solidFill>
                  <a:srgbClr val="94A3B8"/>
                </a:solidFill>
              </a:rPr>
              <a:t>4</a:t>
            </a:r>
          </a:p>
        </p:txBody>
      </p:sp>
      <p:sp>
        <p:nvSpPr>
          <p:cNvPr id="42" name="TextBox 41"/>
          <p:cNvSpPr txBox="1"/>
          <p:nvPr/>
        </p:nvSpPr>
        <p:spPr>
          <a:xfrm>
            <a:off x="7086600" y="4718304"/>
            <a:ext cx="3657600" cy="292608"/>
          </a:xfrm>
          <a:prstGeom prst="rect">
            <a:avLst/>
          </a:prstGeom>
          <a:noFill/>
        </p:spPr>
        <p:txBody>
          <a:bodyPr wrap="square">
            <a:spAutoFit/>
          </a:bodyPr>
          <a:lstStyle/>
          <a:p>
            <a:pPr algn="l"/>
            <a:r>
              <a:rPr sz="1000" b="0" i="0">
                <a:solidFill>
                  <a:srgbClr val="FFFFFF"/>
                </a:solidFill>
              </a:rPr>
              <a:t>company_news</a:t>
            </a:r>
          </a:p>
        </p:txBody>
      </p:sp>
      <p:sp>
        <p:nvSpPr>
          <p:cNvPr id="43" name="Rectangle 42"/>
          <p:cNvSpPr/>
          <p:nvPr/>
        </p:nvSpPr>
        <p:spPr>
          <a:xfrm>
            <a:off x="6583680" y="5138928"/>
            <a:ext cx="516636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0" y="5285232"/>
            <a:ext cx="1691640" cy="8229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5321808"/>
            <a:ext cx="1691640" cy="320040"/>
          </a:xfrm>
          <a:prstGeom prst="rect">
            <a:avLst/>
          </a:prstGeom>
          <a:noFill/>
        </p:spPr>
        <p:txBody>
          <a:bodyPr wrap="square">
            <a:spAutoFit/>
          </a:bodyPr>
          <a:lstStyle/>
          <a:p>
            <a:pPr algn="ctr"/>
            <a:r>
              <a:rPr sz="1000" b="0" i="0">
                <a:solidFill>
                  <a:srgbClr val="0D111A"/>
                </a:solidFill>
              </a:rPr>
              <a:t>≥ 55 pts</a:t>
            </a:r>
          </a:p>
        </p:txBody>
      </p:sp>
      <p:sp>
        <p:nvSpPr>
          <p:cNvPr id="46" name="TextBox 45"/>
          <p:cNvSpPr txBox="1"/>
          <p:nvPr/>
        </p:nvSpPr>
        <p:spPr>
          <a:xfrm>
            <a:off x="6583680" y="5623560"/>
            <a:ext cx="1691640" cy="320040"/>
          </a:xfrm>
          <a:prstGeom prst="rect">
            <a:avLst/>
          </a:prstGeom>
          <a:noFill/>
        </p:spPr>
        <p:txBody>
          <a:bodyPr wrap="square">
            <a:spAutoFit/>
          </a:bodyPr>
          <a:lstStyle/>
          <a:p>
            <a:pPr algn="ctr"/>
            <a:r>
              <a:rPr sz="1100" b="1" i="0">
                <a:solidFill>
                  <a:srgbClr val="0D111A"/>
                </a:solidFill>
              </a:rPr>
              <a:t>LIKELY_FAKE</a:t>
            </a:r>
          </a:p>
        </p:txBody>
      </p:sp>
      <p:sp>
        <p:nvSpPr>
          <p:cNvPr id="47" name="Rectangle 46"/>
          <p:cNvSpPr/>
          <p:nvPr/>
        </p:nvSpPr>
        <p:spPr>
          <a:xfrm>
            <a:off x="8412480" y="5285232"/>
            <a:ext cx="1691640" cy="8229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80" y="5321808"/>
            <a:ext cx="1691640" cy="320040"/>
          </a:xfrm>
          <a:prstGeom prst="rect">
            <a:avLst/>
          </a:prstGeom>
          <a:noFill/>
        </p:spPr>
        <p:txBody>
          <a:bodyPr wrap="square">
            <a:spAutoFit/>
          </a:bodyPr>
          <a:lstStyle/>
          <a:p>
            <a:pPr algn="ctr"/>
            <a:r>
              <a:rPr sz="1000" b="0" i="0">
                <a:solidFill>
                  <a:srgbClr val="0D111A"/>
                </a:solidFill>
              </a:rPr>
              <a:t>≥ 30 pts</a:t>
            </a:r>
          </a:p>
        </p:txBody>
      </p:sp>
      <p:sp>
        <p:nvSpPr>
          <p:cNvPr id="49" name="TextBox 48"/>
          <p:cNvSpPr txBox="1"/>
          <p:nvPr/>
        </p:nvSpPr>
        <p:spPr>
          <a:xfrm>
            <a:off x="8412480" y="5623560"/>
            <a:ext cx="1691640" cy="320040"/>
          </a:xfrm>
          <a:prstGeom prst="rect">
            <a:avLst/>
          </a:prstGeom>
          <a:noFill/>
        </p:spPr>
        <p:txBody>
          <a:bodyPr wrap="square">
            <a:spAutoFit/>
          </a:bodyPr>
          <a:lstStyle/>
          <a:p>
            <a:pPr algn="ctr"/>
            <a:r>
              <a:rPr sz="1100" b="1" i="0">
                <a:solidFill>
                  <a:srgbClr val="0D111A"/>
                </a:solidFill>
              </a:rPr>
              <a:t>SUSPICIOUS</a:t>
            </a:r>
          </a:p>
        </p:txBody>
      </p:sp>
      <p:sp>
        <p:nvSpPr>
          <p:cNvPr id="50" name="Rectangle 49"/>
          <p:cNvSpPr/>
          <p:nvPr/>
        </p:nvSpPr>
        <p:spPr>
          <a:xfrm>
            <a:off x="10241280" y="5285232"/>
            <a:ext cx="1691640" cy="8229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41280" y="5321808"/>
            <a:ext cx="1691640" cy="320040"/>
          </a:xfrm>
          <a:prstGeom prst="rect">
            <a:avLst/>
          </a:prstGeom>
          <a:noFill/>
        </p:spPr>
        <p:txBody>
          <a:bodyPr wrap="square">
            <a:spAutoFit/>
          </a:bodyPr>
          <a:lstStyle/>
          <a:p>
            <a:pPr algn="ctr"/>
            <a:r>
              <a:rPr sz="1000" b="0" i="0">
                <a:solidFill>
                  <a:srgbClr val="0D111A"/>
                </a:solidFill>
              </a:rPr>
              <a:t>&lt; 30 pts</a:t>
            </a:r>
          </a:p>
        </p:txBody>
      </p:sp>
      <p:sp>
        <p:nvSpPr>
          <p:cNvPr id="52" name="TextBox 51"/>
          <p:cNvSpPr txBox="1"/>
          <p:nvPr/>
        </p:nvSpPr>
        <p:spPr>
          <a:xfrm>
            <a:off x="10241280" y="5623560"/>
            <a:ext cx="1691640" cy="320040"/>
          </a:xfrm>
          <a:prstGeom prst="rect">
            <a:avLst/>
          </a:prstGeom>
          <a:noFill/>
        </p:spPr>
        <p:txBody>
          <a:bodyPr wrap="square">
            <a:spAutoFit/>
          </a:bodyPr>
          <a:lstStyle/>
          <a:p>
            <a:pPr algn="ctr"/>
            <a:r>
              <a:rPr sz="1100" b="1" i="0">
                <a:solidFill>
                  <a:srgbClr val="0D111A"/>
                </a:solidFill>
              </a:rPr>
              <a:t>SAFE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Version 1 vs Version 2 — Side by Side</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A clear picture of what changed and why each decision was made</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98448"/>
            <a:ext cx="11521440" cy="384048"/>
          </a:xfrm>
          <a:prstGeom prst="rect">
            <a:avLst/>
          </a:prstGeom>
          <a:solidFill>
            <a:srgbClr val="38BDF8"/>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335024"/>
            <a:ext cx="1810512" cy="329184"/>
          </a:xfrm>
          <a:prstGeom prst="rect">
            <a:avLst/>
          </a:prstGeom>
          <a:noFill/>
        </p:spPr>
        <p:txBody>
          <a:bodyPr wrap="square">
            <a:spAutoFit/>
          </a:bodyPr>
          <a:lstStyle/>
          <a:p>
            <a:pPr algn="l"/>
            <a:r>
              <a:rPr sz="1200" b="1" i="0">
                <a:solidFill>
                  <a:srgbClr val="0D111A"/>
                </a:solidFill>
              </a:rPr>
              <a:t>Aspect</a:t>
            </a:r>
          </a:p>
        </p:txBody>
      </p:sp>
      <p:sp>
        <p:nvSpPr>
          <p:cNvPr id="9" name="TextBox 8"/>
          <p:cNvSpPr txBox="1"/>
          <p:nvPr/>
        </p:nvSpPr>
        <p:spPr>
          <a:xfrm>
            <a:off x="2359152" y="1335024"/>
            <a:ext cx="4553712" cy="329184"/>
          </a:xfrm>
          <a:prstGeom prst="rect">
            <a:avLst/>
          </a:prstGeom>
          <a:noFill/>
        </p:spPr>
        <p:txBody>
          <a:bodyPr wrap="square">
            <a:spAutoFit/>
          </a:bodyPr>
          <a:lstStyle/>
          <a:p>
            <a:pPr algn="l"/>
            <a:r>
              <a:rPr sz="1200" b="1" i="0">
                <a:solidFill>
                  <a:srgbClr val="0D111A"/>
                </a:solidFill>
              </a:rPr>
              <a:t>Version 1</a:t>
            </a:r>
          </a:p>
        </p:txBody>
      </p:sp>
      <p:sp>
        <p:nvSpPr>
          <p:cNvPr id="10" name="TextBox 9"/>
          <p:cNvSpPr txBox="1"/>
          <p:nvPr/>
        </p:nvSpPr>
        <p:spPr>
          <a:xfrm>
            <a:off x="7068312" y="1335024"/>
            <a:ext cx="5010912" cy="329184"/>
          </a:xfrm>
          <a:prstGeom prst="rect">
            <a:avLst/>
          </a:prstGeom>
          <a:noFill/>
        </p:spPr>
        <p:txBody>
          <a:bodyPr wrap="square">
            <a:spAutoFit/>
          </a:bodyPr>
          <a:lstStyle/>
          <a:p>
            <a:pPr algn="l"/>
            <a:r>
              <a:rPr sz="1200" b="1" i="0">
                <a:solidFill>
                  <a:srgbClr val="0D111A"/>
                </a:solidFill>
              </a:rPr>
              <a:t>Version 2</a:t>
            </a:r>
          </a:p>
        </p:txBody>
      </p:sp>
      <p:sp>
        <p:nvSpPr>
          <p:cNvPr id="11" name="Rectangle 10"/>
          <p:cNvSpPr/>
          <p:nvPr/>
        </p:nvSpPr>
        <p:spPr>
          <a:xfrm>
            <a:off x="320040" y="1682496"/>
            <a:ext cx="11521440" cy="384048"/>
          </a:xfrm>
          <a:prstGeom prst="rect">
            <a:avLst/>
          </a:prstGeom>
          <a:solidFill>
            <a:srgbClr val="0D111A"/>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1719072"/>
            <a:ext cx="1810512" cy="329184"/>
          </a:xfrm>
          <a:prstGeom prst="rect">
            <a:avLst/>
          </a:prstGeom>
          <a:noFill/>
        </p:spPr>
        <p:txBody>
          <a:bodyPr wrap="square">
            <a:spAutoFit/>
          </a:bodyPr>
          <a:lstStyle/>
          <a:p>
            <a:pPr algn="l"/>
            <a:r>
              <a:rPr sz="1050" b="0" i="0">
                <a:solidFill>
                  <a:srgbClr val="94A3B8"/>
                </a:solidFill>
              </a:rPr>
              <a:t>LLM approach</a:t>
            </a:r>
          </a:p>
        </p:txBody>
      </p:sp>
      <p:sp>
        <p:nvSpPr>
          <p:cNvPr id="13" name="TextBox 12"/>
          <p:cNvSpPr txBox="1"/>
          <p:nvPr/>
        </p:nvSpPr>
        <p:spPr>
          <a:xfrm>
            <a:off x="2359152" y="1719072"/>
            <a:ext cx="4553712" cy="329184"/>
          </a:xfrm>
          <a:prstGeom prst="rect">
            <a:avLst/>
          </a:prstGeom>
          <a:noFill/>
        </p:spPr>
        <p:txBody>
          <a:bodyPr wrap="square">
            <a:spAutoFit/>
          </a:bodyPr>
          <a:lstStyle/>
          <a:p>
            <a:pPr algn="l"/>
            <a:r>
              <a:rPr sz="1050" b="0" i="0">
                <a:solidFill>
                  <a:srgbClr val="F87171"/>
                </a:solidFill>
              </a:rPr>
              <a:t>Direct Gemini call — raw job text only</a:t>
            </a:r>
          </a:p>
        </p:txBody>
      </p:sp>
      <p:sp>
        <p:nvSpPr>
          <p:cNvPr id="14" name="TextBox 13"/>
          <p:cNvSpPr txBox="1"/>
          <p:nvPr/>
        </p:nvSpPr>
        <p:spPr>
          <a:xfrm>
            <a:off x="7068312" y="1719072"/>
            <a:ext cx="5010912" cy="329184"/>
          </a:xfrm>
          <a:prstGeom prst="rect">
            <a:avLst/>
          </a:prstGeom>
          <a:noFill/>
        </p:spPr>
        <p:txBody>
          <a:bodyPr wrap="square">
            <a:spAutoFit/>
          </a:bodyPr>
          <a:lstStyle/>
          <a:p>
            <a:pPr algn="l"/>
            <a:r>
              <a:rPr sz="1050" b="0" i="0">
                <a:solidFill>
                  <a:srgbClr val="34D399"/>
                </a:solidFill>
              </a:rPr>
              <a:t>LLM reads structured output of 13 tools</a:t>
            </a:r>
          </a:p>
        </p:txBody>
      </p:sp>
      <p:sp>
        <p:nvSpPr>
          <p:cNvPr id="15" name="Rectangle 14"/>
          <p:cNvSpPr/>
          <p:nvPr/>
        </p:nvSpPr>
        <p:spPr>
          <a:xfrm>
            <a:off x="320040" y="2066544"/>
            <a:ext cx="11521440" cy="384048"/>
          </a:xfrm>
          <a:prstGeom prst="rect">
            <a:avLst/>
          </a:prstGeom>
          <a:solidFill>
            <a:srgbClr val="131C2E"/>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 y="2103120"/>
            <a:ext cx="1810512" cy="329184"/>
          </a:xfrm>
          <a:prstGeom prst="rect">
            <a:avLst/>
          </a:prstGeom>
          <a:noFill/>
        </p:spPr>
        <p:txBody>
          <a:bodyPr wrap="square">
            <a:spAutoFit/>
          </a:bodyPr>
          <a:lstStyle/>
          <a:p>
            <a:pPr algn="l"/>
            <a:r>
              <a:rPr sz="1050" b="0" i="0">
                <a:solidFill>
                  <a:srgbClr val="94A3B8"/>
                </a:solidFill>
              </a:rPr>
              <a:t>Tool calling</a:t>
            </a:r>
          </a:p>
        </p:txBody>
      </p:sp>
      <p:sp>
        <p:nvSpPr>
          <p:cNvPr id="17" name="TextBox 16"/>
          <p:cNvSpPr txBox="1"/>
          <p:nvPr/>
        </p:nvSpPr>
        <p:spPr>
          <a:xfrm>
            <a:off x="2359152" y="2103120"/>
            <a:ext cx="4553712" cy="329184"/>
          </a:xfrm>
          <a:prstGeom prst="rect">
            <a:avLst/>
          </a:prstGeom>
          <a:noFill/>
        </p:spPr>
        <p:txBody>
          <a:bodyPr wrap="square">
            <a:spAutoFit/>
          </a:bodyPr>
          <a:lstStyle/>
          <a:p>
            <a:pPr algn="l"/>
            <a:r>
              <a:rPr sz="1050" b="0" i="0">
                <a:solidFill>
                  <a:srgbClr val="FFFFFF"/>
                </a:solidFill>
              </a:rPr>
              <a:t>No structured tool calls</a:t>
            </a:r>
          </a:p>
        </p:txBody>
      </p:sp>
      <p:sp>
        <p:nvSpPr>
          <p:cNvPr id="18" name="TextBox 17"/>
          <p:cNvSpPr txBox="1"/>
          <p:nvPr/>
        </p:nvSpPr>
        <p:spPr>
          <a:xfrm>
            <a:off x="7068312" y="2103120"/>
            <a:ext cx="5010912" cy="329184"/>
          </a:xfrm>
          <a:prstGeom prst="rect">
            <a:avLst/>
          </a:prstGeom>
          <a:noFill/>
        </p:spPr>
        <p:txBody>
          <a:bodyPr wrap="square">
            <a:spAutoFit/>
          </a:bodyPr>
          <a:lstStyle/>
          <a:p>
            <a:pPr algn="l"/>
            <a:r>
              <a:rPr sz="1050" b="0" i="0">
                <a:solidFill>
                  <a:srgbClr val="34D399"/>
                </a:solidFill>
              </a:rPr>
              <a:t>Batch API: all 13 tools run in parallel</a:t>
            </a:r>
          </a:p>
        </p:txBody>
      </p:sp>
      <p:sp>
        <p:nvSpPr>
          <p:cNvPr id="19" name="Rectangle 18"/>
          <p:cNvSpPr/>
          <p:nvPr/>
        </p:nvSpPr>
        <p:spPr>
          <a:xfrm>
            <a:off x="320040" y="2450592"/>
            <a:ext cx="11521440" cy="384048"/>
          </a:xfrm>
          <a:prstGeom prst="rect">
            <a:avLst/>
          </a:prstGeom>
          <a:solidFill>
            <a:srgbClr val="0D111A"/>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 y="2487168"/>
            <a:ext cx="1810512" cy="329184"/>
          </a:xfrm>
          <a:prstGeom prst="rect">
            <a:avLst/>
          </a:prstGeom>
          <a:noFill/>
        </p:spPr>
        <p:txBody>
          <a:bodyPr wrap="square">
            <a:spAutoFit/>
          </a:bodyPr>
          <a:lstStyle/>
          <a:p>
            <a:pPr algn="l"/>
            <a:r>
              <a:rPr sz="1050" b="0" i="0">
                <a:solidFill>
                  <a:srgbClr val="94A3B8"/>
                </a:solidFill>
              </a:rPr>
              <a:t>Backend</a:t>
            </a:r>
          </a:p>
        </p:txBody>
      </p:sp>
      <p:sp>
        <p:nvSpPr>
          <p:cNvPr id="21" name="TextBox 20"/>
          <p:cNvSpPr txBox="1"/>
          <p:nvPr/>
        </p:nvSpPr>
        <p:spPr>
          <a:xfrm>
            <a:off x="2359152" y="2487168"/>
            <a:ext cx="4553712" cy="329184"/>
          </a:xfrm>
          <a:prstGeom prst="rect">
            <a:avLst/>
          </a:prstGeom>
          <a:noFill/>
        </p:spPr>
        <p:txBody>
          <a:bodyPr wrap="square">
            <a:spAutoFit/>
          </a:bodyPr>
          <a:lstStyle/>
          <a:p>
            <a:pPr algn="l"/>
            <a:r>
              <a:rPr sz="1050" b="0" i="0">
                <a:solidFill>
                  <a:srgbClr val="FFFFFF"/>
                </a:solidFill>
              </a:rPr>
              <a:t>None — all logic inside the browser</a:t>
            </a:r>
          </a:p>
        </p:txBody>
      </p:sp>
      <p:sp>
        <p:nvSpPr>
          <p:cNvPr id="22" name="TextBox 21"/>
          <p:cNvSpPr txBox="1"/>
          <p:nvPr/>
        </p:nvSpPr>
        <p:spPr>
          <a:xfrm>
            <a:off x="7068312" y="2487168"/>
            <a:ext cx="5010912" cy="329184"/>
          </a:xfrm>
          <a:prstGeom prst="rect">
            <a:avLst/>
          </a:prstGeom>
          <a:noFill/>
        </p:spPr>
        <p:txBody>
          <a:bodyPr wrap="square">
            <a:spAutoFit/>
          </a:bodyPr>
          <a:lstStyle/>
          <a:p>
            <a:pPr algn="l"/>
            <a:r>
              <a:rPr sz="1050" b="0" i="0">
                <a:solidFill>
                  <a:srgbClr val="34D399"/>
                </a:solidFill>
              </a:rPr>
              <a:t>FastAPI deployed on HuggingFace Spaces</a:t>
            </a:r>
          </a:p>
        </p:txBody>
      </p:sp>
      <p:sp>
        <p:nvSpPr>
          <p:cNvPr id="23" name="Rectangle 22"/>
          <p:cNvSpPr/>
          <p:nvPr/>
        </p:nvSpPr>
        <p:spPr>
          <a:xfrm>
            <a:off x="320040" y="2834640"/>
            <a:ext cx="11521440" cy="384048"/>
          </a:xfrm>
          <a:prstGeom prst="rect">
            <a:avLst/>
          </a:prstGeom>
          <a:solidFill>
            <a:srgbClr val="131C2E"/>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3192" y="2871216"/>
            <a:ext cx="1810512" cy="329184"/>
          </a:xfrm>
          <a:prstGeom prst="rect">
            <a:avLst/>
          </a:prstGeom>
          <a:noFill/>
        </p:spPr>
        <p:txBody>
          <a:bodyPr wrap="square">
            <a:spAutoFit/>
          </a:bodyPr>
          <a:lstStyle/>
          <a:p>
            <a:pPr algn="l"/>
            <a:r>
              <a:rPr sz="1050" b="0" i="0">
                <a:solidFill>
                  <a:srgbClr val="94A3B8"/>
                </a:solidFill>
              </a:rPr>
              <a:t>Number of tools</a:t>
            </a:r>
          </a:p>
        </p:txBody>
      </p:sp>
      <p:sp>
        <p:nvSpPr>
          <p:cNvPr id="25" name="TextBox 24"/>
          <p:cNvSpPr txBox="1"/>
          <p:nvPr/>
        </p:nvSpPr>
        <p:spPr>
          <a:xfrm>
            <a:off x="2359152" y="2871216"/>
            <a:ext cx="4553712" cy="329184"/>
          </a:xfrm>
          <a:prstGeom prst="rect">
            <a:avLst/>
          </a:prstGeom>
          <a:noFill/>
        </p:spPr>
        <p:txBody>
          <a:bodyPr wrap="square">
            <a:spAutoFit/>
          </a:bodyPr>
          <a:lstStyle/>
          <a:p>
            <a:pPr algn="l"/>
            <a:r>
              <a:rPr sz="1050" b="0" i="0">
                <a:solidFill>
                  <a:srgbClr val="F87171"/>
                </a:solidFill>
              </a:rPr>
              <a:t>5 browser-side tools</a:t>
            </a:r>
          </a:p>
        </p:txBody>
      </p:sp>
      <p:sp>
        <p:nvSpPr>
          <p:cNvPr id="26" name="TextBox 25"/>
          <p:cNvSpPr txBox="1"/>
          <p:nvPr/>
        </p:nvSpPr>
        <p:spPr>
          <a:xfrm>
            <a:off x="7068312" y="2871216"/>
            <a:ext cx="5010912" cy="329184"/>
          </a:xfrm>
          <a:prstGeom prst="rect">
            <a:avLst/>
          </a:prstGeom>
          <a:noFill/>
        </p:spPr>
        <p:txBody>
          <a:bodyPr wrap="square">
            <a:spAutoFit/>
          </a:bodyPr>
          <a:lstStyle/>
          <a:p>
            <a:pPr algn="l"/>
            <a:r>
              <a:rPr sz="1050" b="0" i="0">
                <a:solidFill>
                  <a:srgbClr val="34D399"/>
                </a:solidFill>
              </a:rPr>
              <a:t>13 server-side investigation tools</a:t>
            </a:r>
          </a:p>
        </p:txBody>
      </p:sp>
      <p:sp>
        <p:nvSpPr>
          <p:cNvPr id="27" name="Rectangle 26"/>
          <p:cNvSpPr/>
          <p:nvPr/>
        </p:nvSpPr>
        <p:spPr>
          <a:xfrm>
            <a:off x="320040" y="3218688"/>
            <a:ext cx="11521440" cy="384048"/>
          </a:xfrm>
          <a:prstGeom prst="rect">
            <a:avLst/>
          </a:prstGeom>
          <a:solidFill>
            <a:srgbClr val="0D111A"/>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 y="3255264"/>
            <a:ext cx="1810512" cy="329184"/>
          </a:xfrm>
          <a:prstGeom prst="rect">
            <a:avLst/>
          </a:prstGeom>
          <a:noFill/>
        </p:spPr>
        <p:txBody>
          <a:bodyPr wrap="square">
            <a:spAutoFit/>
          </a:bodyPr>
          <a:lstStyle/>
          <a:p>
            <a:pPr algn="l"/>
            <a:r>
              <a:rPr sz="1050" b="0" i="0">
                <a:solidFill>
                  <a:srgbClr val="94A3B8"/>
                </a:solidFill>
              </a:rPr>
              <a:t>Company data</a:t>
            </a:r>
          </a:p>
        </p:txBody>
      </p:sp>
      <p:sp>
        <p:nvSpPr>
          <p:cNvPr id="29" name="TextBox 28"/>
          <p:cNvSpPr txBox="1"/>
          <p:nvPr/>
        </p:nvSpPr>
        <p:spPr>
          <a:xfrm>
            <a:off x="2359152" y="3255264"/>
            <a:ext cx="4553712" cy="329184"/>
          </a:xfrm>
          <a:prstGeom prst="rect">
            <a:avLst/>
          </a:prstGeom>
          <a:noFill/>
        </p:spPr>
        <p:txBody>
          <a:bodyPr wrap="square">
            <a:spAutoFit/>
          </a:bodyPr>
          <a:lstStyle/>
          <a:p>
            <a:pPr algn="l"/>
            <a:r>
              <a:rPr sz="1050" b="0" i="0">
                <a:solidFill>
                  <a:srgbClr val="F87171"/>
                </a:solidFill>
              </a:rPr>
              <a:t>Gemini guesses from job text alone</a:t>
            </a:r>
          </a:p>
        </p:txBody>
      </p:sp>
      <p:sp>
        <p:nvSpPr>
          <p:cNvPr id="30" name="TextBox 29"/>
          <p:cNvSpPr txBox="1"/>
          <p:nvPr/>
        </p:nvSpPr>
        <p:spPr>
          <a:xfrm>
            <a:off x="7068312" y="3255264"/>
            <a:ext cx="5010912" cy="329184"/>
          </a:xfrm>
          <a:prstGeom prst="rect">
            <a:avLst/>
          </a:prstGeom>
          <a:noFill/>
        </p:spPr>
        <p:txBody>
          <a:bodyPr wrap="square">
            <a:spAutoFit/>
          </a:bodyPr>
          <a:lstStyle/>
          <a:p>
            <a:pPr algn="l"/>
            <a:r>
              <a:rPr sz="1050" b="0" i="0">
                <a:solidFill>
                  <a:srgbClr val="34D399"/>
                </a:solidFill>
              </a:rPr>
              <a:t>WHOIS, social, news, job boards, Wikipedia</a:t>
            </a:r>
          </a:p>
        </p:txBody>
      </p:sp>
      <p:sp>
        <p:nvSpPr>
          <p:cNvPr id="31" name="Rectangle 30"/>
          <p:cNvSpPr/>
          <p:nvPr/>
        </p:nvSpPr>
        <p:spPr>
          <a:xfrm>
            <a:off x="320040" y="3602736"/>
            <a:ext cx="11521440" cy="384048"/>
          </a:xfrm>
          <a:prstGeom prst="rect">
            <a:avLst/>
          </a:prstGeom>
          <a:solidFill>
            <a:srgbClr val="131C2E"/>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 y="3639312"/>
            <a:ext cx="1810512" cy="329184"/>
          </a:xfrm>
          <a:prstGeom prst="rect">
            <a:avLst/>
          </a:prstGeom>
          <a:noFill/>
        </p:spPr>
        <p:txBody>
          <a:bodyPr wrap="square">
            <a:spAutoFit/>
          </a:bodyPr>
          <a:lstStyle/>
          <a:p>
            <a:pPr algn="l"/>
            <a:r>
              <a:rPr sz="1050" b="0" i="0">
                <a:solidFill>
                  <a:srgbClr val="94A3B8"/>
                </a:solidFill>
              </a:rPr>
              <a:t>RoBERTa model</a:t>
            </a:r>
          </a:p>
        </p:txBody>
      </p:sp>
      <p:sp>
        <p:nvSpPr>
          <p:cNvPr id="33" name="TextBox 32"/>
          <p:cNvSpPr txBox="1"/>
          <p:nvPr/>
        </p:nvSpPr>
        <p:spPr>
          <a:xfrm>
            <a:off x="2359152" y="3639312"/>
            <a:ext cx="4553712" cy="329184"/>
          </a:xfrm>
          <a:prstGeom prst="rect">
            <a:avLst/>
          </a:prstGeom>
          <a:noFill/>
        </p:spPr>
        <p:txBody>
          <a:bodyPr wrap="square">
            <a:spAutoFit/>
          </a:bodyPr>
          <a:lstStyle/>
          <a:p>
            <a:pPr algn="l"/>
            <a:r>
              <a:rPr sz="1050" b="0" i="0">
                <a:solidFill>
                  <a:srgbClr val="F87171"/>
                </a:solidFill>
              </a:rPr>
              <a:t>Called directly from browser (HF API)</a:t>
            </a:r>
          </a:p>
        </p:txBody>
      </p:sp>
      <p:sp>
        <p:nvSpPr>
          <p:cNvPr id="34" name="TextBox 33"/>
          <p:cNvSpPr txBox="1"/>
          <p:nvPr/>
        </p:nvSpPr>
        <p:spPr>
          <a:xfrm>
            <a:off x="7068312" y="3639312"/>
            <a:ext cx="5010912" cy="329184"/>
          </a:xfrm>
          <a:prstGeom prst="rect">
            <a:avLst/>
          </a:prstGeom>
          <a:noFill/>
        </p:spPr>
        <p:txBody>
          <a:bodyPr wrap="square">
            <a:spAutoFit/>
          </a:bodyPr>
          <a:lstStyle/>
          <a:p>
            <a:pPr algn="l"/>
            <a:r>
              <a:rPr sz="1050" b="0" i="0">
                <a:solidFill>
                  <a:srgbClr val="34D399"/>
                </a:solidFill>
              </a:rPr>
              <a:t>Deployed as dedicated HF Space</a:t>
            </a:r>
          </a:p>
        </p:txBody>
      </p:sp>
      <p:sp>
        <p:nvSpPr>
          <p:cNvPr id="35" name="Rectangle 34"/>
          <p:cNvSpPr/>
          <p:nvPr/>
        </p:nvSpPr>
        <p:spPr>
          <a:xfrm>
            <a:off x="320040" y="3986784"/>
            <a:ext cx="11521440" cy="384048"/>
          </a:xfrm>
          <a:prstGeom prst="rect">
            <a:avLst/>
          </a:prstGeom>
          <a:solidFill>
            <a:srgbClr val="0D111A"/>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3192" y="4023360"/>
            <a:ext cx="1810512" cy="329184"/>
          </a:xfrm>
          <a:prstGeom prst="rect">
            <a:avLst/>
          </a:prstGeom>
          <a:noFill/>
        </p:spPr>
        <p:txBody>
          <a:bodyPr wrap="square">
            <a:spAutoFit/>
          </a:bodyPr>
          <a:lstStyle/>
          <a:p>
            <a:pPr algn="l"/>
            <a:r>
              <a:rPr sz="1050" b="0" i="0">
                <a:solidFill>
                  <a:srgbClr val="94A3B8"/>
                </a:solidFill>
              </a:rPr>
              <a:t>Verdict logic</a:t>
            </a:r>
          </a:p>
        </p:txBody>
      </p:sp>
      <p:sp>
        <p:nvSpPr>
          <p:cNvPr id="37" name="TextBox 36"/>
          <p:cNvSpPr txBox="1"/>
          <p:nvPr/>
        </p:nvSpPr>
        <p:spPr>
          <a:xfrm>
            <a:off x="2359152" y="4023360"/>
            <a:ext cx="4553712" cy="329184"/>
          </a:xfrm>
          <a:prstGeom prst="rect">
            <a:avLst/>
          </a:prstGeom>
          <a:noFill/>
        </p:spPr>
        <p:txBody>
          <a:bodyPr wrap="square">
            <a:spAutoFit/>
          </a:bodyPr>
          <a:lstStyle/>
          <a:p>
            <a:pPr algn="l"/>
            <a:r>
              <a:rPr sz="1050" b="0" i="0">
                <a:solidFill>
                  <a:srgbClr val="FFFFFF"/>
                </a:solidFill>
              </a:rPr>
              <a:t>RoBERTa threshold + one Gemini prompt</a:t>
            </a:r>
          </a:p>
        </p:txBody>
      </p:sp>
      <p:sp>
        <p:nvSpPr>
          <p:cNvPr id="38" name="TextBox 37"/>
          <p:cNvSpPr txBox="1"/>
          <p:nvPr/>
        </p:nvSpPr>
        <p:spPr>
          <a:xfrm>
            <a:off x="7068312" y="4023360"/>
            <a:ext cx="5010912" cy="329184"/>
          </a:xfrm>
          <a:prstGeom prst="rect">
            <a:avLst/>
          </a:prstGeom>
          <a:noFill/>
        </p:spPr>
        <p:txBody>
          <a:bodyPr wrap="square">
            <a:spAutoFit/>
          </a:bodyPr>
          <a:lstStyle/>
          <a:p>
            <a:pPr algn="l"/>
            <a:r>
              <a:rPr sz="1050" b="0" i="0">
                <a:solidFill>
                  <a:srgbClr val="34D399"/>
                </a:solidFill>
              </a:rPr>
              <a:t>Weighted 13-signal heuristic + LLM report</a:t>
            </a:r>
          </a:p>
        </p:txBody>
      </p:sp>
      <p:sp>
        <p:nvSpPr>
          <p:cNvPr id="39" name="Rectangle 38"/>
          <p:cNvSpPr/>
          <p:nvPr/>
        </p:nvSpPr>
        <p:spPr>
          <a:xfrm>
            <a:off x="320040" y="4370832"/>
            <a:ext cx="11521440" cy="384048"/>
          </a:xfrm>
          <a:prstGeom prst="rect">
            <a:avLst/>
          </a:prstGeom>
          <a:solidFill>
            <a:srgbClr val="131C2E"/>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3192" y="4407408"/>
            <a:ext cx="1810512" cy="329184"/>
          </a:xfrm>
          <a:prstGeom prst="rect">
            <a:avLst/>
          </a:prstGeom>
          <a:noFill/>
        </p:spPr>
        <p:txBody>
          <a:bodyPr wrap="square">
            <a:spAutoFit/>
          </a:bodyPr>
          <a:lstStyle/>
          <a:p>
            <a:pPr algn="l"/>
            <a:r>
              <a:rPr sz="1050" b="0" i="0">
                <a:solidFill>
                  <a:srgbClr val="94A3B8"/>
                </a:solidFill>
              </a:rPr>
              <a:t>LLM model</a:t>
            </a:r>
          </a:p>
        </p:txBody>
      </p:sp>
      <p:sp>
        <p:nvSpPr>
          <p:cNvPr id="41" name="TextBox 40"/>
          <p:cNvSpPr txBox="1"/>
          <p:nvPr/>
        </p:nvSpPr>
        <p:spPr>
          <a:xfrm>
            <a:off x="2359152" y="4407408"/>
            <a:ext cx="4553712" cy="329184"/>
          </a:xfrm>
          <a:prstGeom prst="rect">
            <a:avLst/>
          </a:prstGeom>
          <a:noFill/>
        </p:spPr>
        <p:txBody>
          <a:bodyPr wrap="square">
            <a:spAutoFit/>
          </a:bodyPr>
          <a:lstStyle/>
          <a:p>
            <a:pPr algn="l"/>
            <a:r>
              <a:rPr sz="1050" b="0" i="0">
                <a:solidFill>
                  <a:srgbClr val="F87171"/>
                </a:solidFill>
              </a:rPr>
              <a:t>Google Gemini 2.5-Flash (fixed)</a:t>
            </a:r>
          </a:p>
        </p:txBody>
      </p:sp>
      <p:sp>
        <p:nvSpPr>
          <p:cNvPr id="42" name="TextBox 41"/>
          <p:cNvSpPr txBox="1"/>
          <p:nvPr/>
        </p:nvSpPr>
        <p:spPr>
          <a:xfrm>
            <a:off x="7068312" y="4407408"/>
            <a:ext cx="5010912" cy="329184"/>
          </a:xfrm>
          <a:prstGeom prst="rect">
            <a:avLst/>
          </a:prstGeom>
          <a:noFill/>
        </p:spPr>
        <p:txBody>
          <a:bodyPr wrap="square">
            <a:spAutoFit/>
          </a:bodyPr>
          <a:lstStyle/>
          <a:p>
            <a:pPr algn="l"/>
            <a:r>
              <a:rPr sz="1050" b="0" i="0">
                <a:solidFill>
                  <a:srgbClr val="34D399"/>
                </a:solidFill>
              </a:rPr>
              <a:t>Any OpenAI-compatible model via AIPipe</a:t>
            </a:r>
          </a:p>
        </p:txBody>
      </p:sp>
      <p:sp>
        <p:nvSpPr>
          <p:cNvPr id="43" name="Rectangle 42"/>
          <p:cNvSpPr/>
          <p:nvPr/>
        </p:nvSpPr>
        <p:spPr>
          <a:xfrm>
            <a:off x="320040" y="4754880"/>
            <a:ext cx="11521440" cy="384048"/>
          </a:xfrm>
          <a:prstGeom prst="rect">
            <a:avLst/>
          </a:prstGeom>
          <a:solidFill>
            <a:srgbClr val="0D111A"/>
          </a:solidFill>
          <a:ln w="635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 y="4791456"/>
            <a:ext cx="1810512" cy="329184"/>
          </a:xfrm>
          <a:prstGeom prst="rect">
            <a:avLst/>
          </a:prstGeom>
          <a:noFill/>
        </p:spPr>
        <p:txBody>
          <a:bodyPr wrap="square">
            <a:spAutoFit/>
          </a:bodyPr>
          <a:lstStyle/>
          <a:p>
            <a:pPr algn="l"/>
            <a:r>
              <a:rPr sz="1050" b="0" i="0">
                <a:solidFill>
                  <a:srgbClr val="94A3B8"/>
                </a:solidFill>
              </a:rPr>
              <a:t>Tool updates</a:t>
            </a:r>
          </a:p>
        </p:txBody>
      </p:sp>
      <p:sp>
        <p:nvSpPr>
          <p:cNvPr id="45" name="TextBox 44"/>
          <p:cNvSpPr txBox="1"/>
          <p:nvPr/>
        </p:nvSpPr>
        <p:spPr>
          <a:xfrm>
            <a:off x="2359152" y="4791456"/>
            <a:ext cx="4553712" cy="329184"/>
          </a:xfrm>
          <a:prstGeom prst="rect">
            <a:avLst/>
          </a:prstGeom>
          <a:noFill/>
        </p:spPr>
        <p:txBody>
          <a:bodyPr wrap="square">
            <a:spAutoFit/>
          </a:bodyPr>
          <a:lstStyle/>
          <a:p>
            <a:pPr algn="l"/>
            <a:r>
              <a:rPr sz="1050" b="0" i="0">
                <a:solidFill>
                  <a:srgbClr val="F87171"/>
                </a:solidFill>
              </a:rPr>
              <a:t>Requires re-installing extension</a:t>
            </a:r>
          </a:p>
        </p:txBody>
      </p:sp>
      <p:sp>
        <p:nvSpPr>
          <p:cNvPr id="46" name="TextBox 45"/>
          <p:cNvSpPr txBox="1"/>
          <p:nvPr/>
        </p:nvSpPr>
        <p:spPr>
          <a:xfrm>
            <a:off x="7068312" y="4791456"/>
            <a:ext cx="5010912" cy="329184"/>
          </a:xfrm>
          <a:prstGeom prst="rect">
            <a:avLst/>
          </a:prstGeom>
          <a:noFill/>
        </p:spPr>
        <p:txBody>
          <a:bodyPr wrap="square">
            <a:spAutoFit/>
          </a:bodyPr>
          <a:lstStyle/>
          <a:p>
            <a:pPr algn="l"/>
            <a:r>
              <a:rPr sz="1050" b="0" i="0">
                <a:solidFill>
                  <a:srgbClr val="34D399"/>
                </a:solidFill>
              </a:rPr>
              <a:t>Deploy new backend — extension unchanged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972800" cy="640080"/>
          </a:xfrm>
          <a:prstGeom prst="rect">
            <a:avLst/>
          </a:prstGeom>
          <a:noFill/>
        </p:spPr>
        <p:txBody>
          <a:bodyPr wrap="square">
            <a:spAutoFit/>
          </a:bodyPr>
          <a:lstStyle/>
          <a:p>
            <a:pPr algn="l"/>
            <a:r>
              <a:rPr sz="3200" b="1" i="0">
                <a:solidFill>
                  <a:srgbClr val="38BDF8"/>
                </a:solidFill>
              </a:rPr>
              <a:t>Key Design Decisions</a:t>
            </a:r>
          </a:p>
        </p:txBody>
      </p:sp>
      <p:sp>
        <p:nvSpPr>
          <p:cNvPr id="5" name="TextBox 4"/>
          <p:cNvSpPr txBox="1"/>
          <p:nvPr/>
        </p:nvSpPr>
        <p:spPr>
          <a:xfrm>
            <a:off x="502920" y="804672"/>
            <a:ext cx="10058400" cy="411480"/>
          </a:xfrm>
          <a:prstGeom prst="rect">
            <a:avLst/>
          </a:prstGeom>
          <a:noFill/>
        </p:spPr>
        <p:txBody>
          <a:bodyPr wrap="square">
            <a:spAutoFit/>
          </a:bodyPr>
          <a:lstStyle/>
          <a:p>
            <a:pPr algn="l"/>
            <a:r>
              <a:rPr sz="1600" b="0" i="0">
                <a:solidFill>
                  <a:srgbClr val="94A3B8"/>
                </a:solidFill>
              </a:rPr>
              <a:t>The 'why' behind the technical choices — questions an examiner will ask</a:t>
            </a:r>
          </a:p>
        </p:txBody>
      </p:sp>
      <p:sp>
        <p:nvSpPr>
          <p:cNvPr id="6" name="Rectangle 5"/>
          <p:cNvSpPr/>
          <p:nvPr/>
        </p:nvSpPr>
        <p:spPr>
          <a:xfrm>
            <a:off x="502920" y="1143000"/>
            <a:ext cx="11155680" cy="10972"/>
          </a:xfrm>
          <a:prstGeom prst="rect">
            <a:avLst/>
          </a:prstGeom>
          <a:solidFill>
            <a:srgbClr val="1E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9844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298448"/>
            <a:ext cx="54864" cy="1463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89888"/>
            <a:ext cx="5349240" cy="347472"/>
          </a:xfrm>
          <a:prstGeom prst="rect">
            <a:avLst/>
          </a:prstGeom>
          <a:noFill/>
        </p:spPr>
        <p:txBody>
          <a:bodyPr wrap="square">
            <a:spAutoFit/>
          </a:bodyPr>
          <a:lstStyle/>
          <a:p>
            <a:pPr algn="l"/>
            <a:r>
              <a:rPr sz="1200" b="1" i="0">
                <a:solidFill>
                  <a:srgbClr val="38BDF8"/>
                </a:solidFill>
              </a:rPr>
              <a:t>Why did v1 use direct Gemini and not tool calling?</a:t>
            </a:r>
          </a:p>
        </p:txBody>
      </p:sp>
      <p:sp>
        <p:nvSpPr>
          <p:cNvPr id="10" name="TextBox 9"/>
          <p:cNvSpPr txBox="1"/>
          <p:nvPr/>
        </p:nvSpPr>
        <p:spPr>
          <a:xfrm>
            <a:off x="484632" y="1755648"/>
            <a:ext cx="5349240" cy="914400"/>
          </a:xfrm>
          <a:prstGeom prst="rect">
            <a:avLst/>
          </a:prstGeom>
          <a:noFill/>
        </p:spPr>
        <p:txBody>
          <a:bodyPr wrap="square">
            <a:spAutoFit/>
          </a:bodyPr>
          <a:lstStyle/>
          <a:p>
            <a:pPr algn="l"/>
            <a:r>
              <a:rPr sz="1000" b="0" i="0">
                <a:solidFill>
                  <a:srgbClr val="94A3B8"/>
                </a:solidFill>
              </a:rPr>
              <a:t>v1 was built before the backend was deployed. With no server infrastructure, the only option was to send the raw job text directly to Gemini and ask it to reason about fraud. This gave weak results because Gemini had no actual company data — just the text the scammer wrote.</a:t>
            </a:r>
          </a:p>
        </p:txBody>
      </p:sp>
      <p:sp>
        <p:nvSpPr>
          <p:cNvPr id="11" name="Rectangle 10"/>
          <p:cNvSpPr/>
          <p:nvPr/>
        </p:nvSpPr>
        <p:spPr>
          <a:xfrm>
            <a:off x="6254496" y="129844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1298448"/>
            <a:ext cx="54864" cy="14630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389888"/>
            <a:ext cx="5349240" cy="347472"/>
          </a:xfrm>
          <a:prstGeom prst="rect">
            <a:avLst/>
          </a:prstGeom>
          <a:noFill/>
        </p:spPr>
        <p:txBody>
          <a:bodyPr wrap="square">
            <a:spAutoFit/>
          </a:bodyPr>
          <a:lstStyle/>
          <a:p>
            <a:pPr algn="l"/>
            <a:r>
              <a:rPr sz="1200" b="1" i="0">
                <a:solidFill>
                  <a:srgbClr val="34D399"/>
                </a:solidFill>
              </a:rPr>
              <a:t>Why a custom 'LangChain-inspired' framework in v1?</a:t>
            </a:r>
          </a:p>
        </p:txBody>
      </p:sp>
      <p:sp>
        <p:nvSpPr>
          <p:cNvPr id="14" name="TextBox 13"/>
          <p:cNvSpPr txBox="1"/>
          <p:nvPr/>
        </p:nvSpPr>
        <p:spPr>
          <a:xfrm>
            <a:off x="6419088" y="1755648"/>
            <a:ext cx="5349240" cy="914400"/>
          </a:xfrm>
          <a:prstGeom prst="rect">
            <a:avLst/>
          </a:prstGeom>
          <a:noFill/>
        </p:spPr>
        <p:txBody>
          <a:bodyPr wrap="square">
            <a:spAutoFit/>
          </a:bodyPr>
          <a:lstStyle/>
          <a:p>
            <a:pPr algn="l"/>
            <a:r>
              <a:rPr sz="1000" b="0" i="0">
                <a:solidFill>
                  <a:srgbClr val="94A3B8"/>
                </a:solidFill>
              </a:rPr>
              <a:t>Real LangChain requires Node.js and cannot run inside a Chrome extension's browser context. The custom ToolRegistry + PipelineBuilder replicates the same tool-chaining pattern using pure ES modules that work in a service worker.</a:t>
            </a:r>
          </a:p>
        </p:txBody>
      </p:sp>
      <p:sp>
        <p:nvSpPr>
          <p:cNvPr id="15" name="Rectangle 14"/>
          <p:cNvSpPr/>
          <p:nvPr/>
        </p:nvSpPr>
        <p:spPr>
          <a:xfrm>
            <a:off x="320040" y="299008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2990088"/>
            <a:ext cx="54864" cy="14630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3081528"/>
            <a:ext cx="5349240" cy="347472"/>
          </a:xfrm>
          <a:prstGeom prst="rect">
            <a:avLst/>
          </a:prstGeom>
          <a:noFill/>
        </p:spPr>
        <p:txBody>
          <a:bodyPr wrap="square">
            <a:spAutoFit/>
          </a:bodyPr>
          <a:lstStyle/>
          <a:p>
            <a:pPr algn="l"/>
            <a:r>
              <a:rPr sz="1200" b="1" i="0">
                <a:solidFill>
                  <a:srgbClr val="FBBF24"/>
                </a:solidFill>
              </a:rPr>
              <a:t>Why deploy on HuggingFace Spaces?</a:t>
            </a:r>
          </a:p>
        </p:txBody>
      </p:sp>
      <p:sp>
        <p:nvSpPr>
          <p:cNvPr id="18" name="TextBox 17"/>
          <p:cNvSpPr txBox="1"/>
          <p:nvPr/>
        </p:nvSpPr>
        <p:spPr>
          <a:xfrm>
            <a:off x="484632" y="3447288"/>
            <a:ext cx="5349240" cy="914400"/>
          </a:xfrm>
          <a:prstGeom prst="rect">
            <a:avLst/>
          </a:prstGeom>
          <a:noFill/>
        </p:spPr>
        <p:txBody>
          <a:bodyPr wrap="square">
            <a:spAutoFit/>
          </a:bodyPr>
          <a:lstStyle/>
          <a:p>
            <a:pPr algn="l"/>
            <a:r>
              <a:rPr sz="1000" b="0" i="0">
                <a:solidFill>
                  <a:srgbClr val="94A3B8"/>
                </a:solidFill>
              </a:rPr>
              <a:t>HuggingFace Spaces gives free GPU-backed hosting for ML models and free CPU hosting for APIs. The RoBERTa model (125M params) needs more compute than a browser can provide. Spaces also allows the backend to be shared between the web-app and the extension.</a:t>
            </a:r>
          </a:p>
        </p:txBody>
      </p:sp>
      <p:sp>
        <p:nvSpPr>
          <p:cNvPr id="19" name="Rectangle 18"/>
          <p:cNvSpPr/>
          <p:nvPr/>
        </p:nvSpPr>
        <p:spPr>
          <a:xfrm>
            <a:off x="6254496" y="299008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2990088"/>
            <a:ext cx="54864" cy="14630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081528"/>
            <a:ext cx="5349240" cy="347472"/>
          </a:xfrm>
          <a:prstGeom prst="rect">
            <a:avLst/>
          </a:prstGeom>
          <a:noFill/>
        </p:spPr>
        <p:txBody>
          <a:bodyPr wrap="square">
            <a:spAutoFit/>
          </a:bodyPr>
          <a:lstStyle/>
          <a:p>
            <a:pPr algn="l"/>
            <a:r>
              <a:rPr sz="1200" b="1" i="0">
                <a:solidFill>
                  <a:srgbClr val="A78BFA"/>
                </a:solidFill>
              </a:rPr>
              <a:t>Why a weighted heuristic instead of just RoBERTa?</a:t>
            </a:r>
          </a:p>
        </p:txBody>
      </p:sp>
      <p:sp>
        <p:nvSpPr>
          <p:cNvPr id="22" name="TextBox 21"/>
          <p:cNvSpPr txBox="1"/>
          <p:nvPr/>
        </p:nvSpPr>
        <p:spPr>
          <a:xfrm>
            <a:off x="6419088" y="3447288"/>
            <a:ext cx="5349240" cy="914400"/>
          </a:xfrm>
          <a:prstGeom prst="rect">
            <a:avLst/>
          </a:prstGeom>
          <a:noFill/>
        </p:spPr>
        <p:txBody>
          <a:bodyPr wrap="square">
            <a:spAutoFit/>
          </a:bodyPr>
          <a:lstStyle/>
          <a:p>
            <a:pPr algn="l"/>
            <a:r>
              <a:rPr sz="1000" b="0" i="0">
                <a:solidFill>
                  <a:srgbClr val="94A3B8"/>
                </a:solidFill>
              </a:rPr>
              <a:t>RoBERTa was trained on job text only — it cannot see domain age, social presence, or news coverage. A job posting can look textually legitimate while the company itself is fake. The weighted heuristic combines all 13 signals for a much harder-to-fool verdict.</a:t>
            </a:r>
          </a:p>
        </p:txBody>
      </p:sp>
      <p:sp>
        <p:nvSpPr>
          <p:cNvPr id="23" name="Rectangle 22"/>
          <p:cNvSpPr/>
          <p:nvPr/>
        </p:nvSpPr>
        <p:spPr>
          <a:xfrm>
            <a:off x="320040" y="468172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4681728"/>
            <a:ext cx="54864" cy="146304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 y="4773168"/>
            <a:ext cx="5349240" cy="347472"/>
          </a:xfrm>
          <a:prstGeom prst="rect">
            <a:avLst/>
          </a:prstGeom>
          <a:noFill/>
        </p:spPr>
        <p:txBody>
          <a:bodyPr wrap="square">
            <a:spAutoFit/>
          </a:bodyPr>
          <a:lstStyle/>
          <a:p>
            <a:pPr algn="l"/>
            <a:r>
              <a:rPr sz="1200" b="1" i="0">
                <a:solidFill>
                  <a:srgbClr val="F87171"/>
                </a:solidFill>
              </a:rPr>
              <a:t>Why build tools as a server-side batch API in v2?</a:t>
            </a:r>
          </a:p>
        </p:txBody>
      </p:sp>
      <p:sp>
        <p:nvSpPr>
          <p:cNvPr id="26" name="TextBox 25"/>
          <p:cNvSpPr txBox="1"/>
          <p:nvPr/>
        </p:nvSpPr>
        <p:spPr>
          <a:xfrm>
            <a:off x="484632" y="5138928"/>
            <a:ext cx="5349240" cy="914400"/>
          </a:xfrm>
          <a:prstGeom prst="rect">
            <a:avLst/>
          </a:prstGeom>
          <a:noFill/>
        </p:spPr>
        <p:txBody>
          <a:bodyPr wrap="square">
            <a:spAutoFit/>
          </a:bodyPr>
          <a:lstStyle/>
          <a:p>
            <a:pPr algn="l"/>
            <a:r>
              <a:rPr sz="1000" b="0" i="0">
                <a:solidFill>
                  <a:srgbClr val="94A3B8"/>
                </a:solidFill>
              </a:rPr>
              <a:t>In v1, tools ran inside the browser — limited by the extension sandbox, no persistent state, and no access to server credentials. Moving tools to FastAPI means they can call paid APIs securely, run heavier ML models, and be updated without reinstalling the extension.</a:t>
            </a:r>
          </a:p>
        </p:txBody>
      </p:sp>
      <p:sp>
        <p:nvSpPr>
          <p:cNvPr id="27" name="Rectangle 26"/>
          <p:cNvSpPr/>
          <p:nvPr/>
        </p:nvSpPr>
        <p:spPr>
          <a:xfrm>
            <a:off x="6254496" y="4681728"/>
            <a:ext cx="5577840" cy="1463040"/>
          </a:xfrm>
          <a:prstGeom prst="rect">
            <a:avLst/>
          </a:prstGeom>
          <a:solidFill>
            <a:srgbClr val="131C2E"/>
          </a:solidFill>
          <a:ln w="12700">
            <a:solidFill>
              <a:srgbClr val="1E2D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54496" y="4681728"/>
            <a:ext cx="54864" cy="14630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773168"/>
            <a:ext cx="5349240" cy="347472"/>
          </a:xfrm>
          <a:prstGeom prst="rect">
            <a:avLst/>
          </a:prstGeom>
          <a:noFill/>
        </p:spPr>
        <p:txBody>
          <a:bodyPr wrap="square">
            <a:spAutoFit/>
          </a:bodyPr>
          <a:lstStyle/>
          <a:p>
            <a:pPr algn="l"/>
            <a:r>
              <a:rPr sz="1200" b="1" i="0">
                <a:solidFill>
                  <a:srgbClr val="34D399"/>
                </a:solidFill>
              </a:rPr>
              <a:t>Why move API keys to the server?</a:t>
            </a:r>
          </a:p>
        </p:txBody>
      </p:sp>
      <p:sp>
        <p:nvSpPr>
          <p:cNvPr id="30" name="TextBox 29"/>
          <p:cNvSpPr txBox="1"/>
          <p:nvPr/>
        </p:nvSpPr>
        <p:spPr>
          <a:xfrm>
            <a:off x="6419088" y="5138928"/>
            <a:ext cx="5349240" cy="914400"/>
          </a:xfrm>
          <a:prstGeom prst="rect">
            <a:avLst/>
          </a:prstGeom>
          <a:noFill/>
        </p:spPr>
        <p:txBody>
          <a:bodyPr wrap="square">
            <a:spAutoFit/>
          </a:bodyPr>
          <a:lstStyle/>
          <a:p>
            <a:pPr algn="l"/>
            <a:r>
              <a:rPr sz="1000" b="0" i="0">
                <a:solidFill>
                  <a:srgbClr val="94A3B8"/>
                </a:solidFill>
              </a:rPr>
              <a:t>Storing API keys in chrome.storage.local means any script running in the browser extension context could read them. Server-side environment variables are only accessible to the backend process — users only provide keys via the popup if they want to override the server default.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88952" cy="365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48640"/>
            <a:ext cx="10332720" cy="640080"/>
          </a:xfrm>
          <a:prstGeom prst="rect">
            <a:avLst/>
          </a:prstGeom>
          <a:noFill/>
        </p:spPr>
        <p:txBody>
          <a:bodyPr wrap="square">
            <a:spAutoFit/>
          </a:bodyPr>
          <a:lstStyle/>
          <a:p>
            <a:pPr algn="ctr"/>
            <a:r>
              <a:rPr sz="3600" b="1" i="0">
                <a:solidFill>
                  <a:srgbClr val="FFFFFF"/>
                </a:solidFill>
              </a:rPr>
              <a:t>Summary</a:t>
            </a:r>
          </a:p>
        </p:txBody>
      </p:sp>
      <p:sp>
        <p:nvSpPr>
          <p:cNvPr id="6" name="TextBox 5"/>
          <p:cNvSpPr txBox="1"/>
          <p:nvPr/>
        </p:nvSpPr>
        <p:spPr>
          <a:xfrm>
            <a:off x="914400" y="1188720"/>
            <a:ext cx="10332720" cy="411480"/>
          </a:xfrm>
          <a:prstGeom prst="rect">
            <a:avLst/>
          </a:prstGeom>
          <a:noFill/>
        </p:spPr>
        <p:txBody>
          <a:bodyPr wrap="square">
            <a:spAutoFit/>
          </a:bodyPr>
          <a:lstStyle/>
          <a:p>
            <a:pPr algn="ctr"/>
            <a:r>
              <a:rPr sz="1600" b="0" i="0">
                <a:solidFill>
                  <a:srgbClr val="94A3B8"/>
                </a:solidFill>
              </a:rPr>
              <a:t>FraudGuard Chrome Extension — Evolution from v1 to v2</a:t>
            </a:r>
          </a:p>
        </p:txBody>
      </p:sp>
      <p:sp>
        <p:nvSpPr>
          <p:cNvPr id="7" name="Rectangle 6"/>
          <p:cNvSpPr/>
          <p:nvPr/>
        </p:nvSpPr>
        <p:spPr>
          <a:xfrm>
            <a:off x="548640" y="1783080"/>
            <a:ext cx="777240" cy="5486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20"/>
            <a:ext cx="777240" cy="365760"/>
          </a:xfrm>
          <a:prstGeom prst="rect">
            <a:avLst/>
          </a:prstGeom>
          <a:noFill/>
        </p:spPr>
        <p:txBody>
          <a:bodyPr wrap="square">
            <a:spAutoFit/>
          </a:bodyPr>
          <a:lstStyle/>
          <a:p>
            <a:pPr algn="ctr"/>
            <a:r>
              <a:rPr sz="1100" b="1" i="0">
                <a:solidFill>
                  <a:srgbClr val="0D111A"/>
                </a:solidFill>
              </a:rPr>
              <a:t>v1</a:t>
            </a:r>
          </a:p>
        </p:txBody>
      </p:sp>
      <p:sp>
        <p:nvSpPr>
          <p:cNvPr id="9" name="TextBox 8"/>
          <p:cNvSpPr txBox="1"/>
          <p:nvPr/>
        </p:nvSpPr>
        <p:spPr>
          <a:xfrm>
            <a:off x="1508760" y="1856232"/>
            <a:ext cx="10058400" cy="658368"/>
          </a:xfrm>
          <a:prstGeom prst="rect">
            <a:avLst/>
          </a:prstGeom>
          <a:noFill/>
        </p:spPr>
        <p:txBody>
          <a:bodyPr wrap="square">
            <a:spAutoFit/>
          </a:bodyPr>
          <a:lstStyle/>
          <a:p>
            <a:pPr algn="l"/>
            <a:r>
              <a:rPr sz="1200" b="0" i="0">
                <a:solidFill>
                  <a:srgbClr val="94A3B8"/>
                </a:solidFill>
              </a:rPr>
              <a:t>Self-contained browser extension · LangChain-inspired tool pipeline · 5 custom tools · Direct Gemini API call · RoBERTa via HuggingFace</a:t>
            </a:r>
          </a:p>
        </p:txBody>
      </p:sp>
      <p:sp>
        <p:nvSpPr>
          <p:cNvPr id="10" name="Rectangle 9"/>
          <p:cNvSpPr/>
          <p:nvPr/>
        </p:nvSpPr>
        <p:spPr>
          <a:xfrm>
            <a:off x="548640" y="2679192"/>
            <a:ext cx="777240" cy="5486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70632"/>
            <a:ext cx="777240" cy="365760"/>
          </a:xfrm>
          <a:prstGeom prst="rect">
            <a:avLst/>
          </a:prstGeom>
          <a:noFill/>
        </p:spPr>
        <p:txBody>
          <a:bodyPr wrap="square">
            <a:spAutoFit/>
          </a:bodyPr>
          <a:lstStyle/>
          <a:p>
            <a:pPr algn="ctr"/>
            <a:r>
              <a:rPr sz="1100" b="1" i="0">
                <a:solidFill>
                  <a:srgbClr val="0D111A"/>
                </a:solidFill>
              </a:rPr>
              <a:t>Why v2</a:t>
            </a:r>
          </a:p>
        </p:txBody>
      </p:sp>
      <p:sp>
        <p:nvSpPr>
          <p:cNvPr id="12" name="TextBox 11"/>
          <p:cNvSpPr txBox="1"/>
          <p:nvPr/>
        </p:nvSpPr>
        <p:spPr>
          <a:xfrm>
            <a:off x="1508760" y="2752344"/>
            <a:ext cx="10058400" cy="658368"/>
          </a:xfrm>
          <a:prstGeom prst="rect">
            <a:avLst/>
          </a:prstGeom>
          <a:noFill/>
        </p:spPr>
        <p:txBody>
          <a:bodyPr wrap="square">
            <a:spAutoFit/>
          </a:bodyPr>
          <a:lstStyle/>
          <a:p>
            <a:pPr algn="l"/>
            <a:r>
              <a:rPr sz="1200" b="0" i="0">
                <a:solidFill>
                  <a:srgbClr val="94A3B8"/>
                </a:solidFill>
              </a:rPr>
              <a:t>v1 sent raw job text to Gemini with no real company data · No tool calling meant Gemini was guessing · Needed structured signals: WHOIS, social, news, job boards</a:t>
            </a:r>
          </a:p>
        </p:txBody>
      </p:sp>
      <p:sp>
        <p:nvSpPr>
          <p:cNvPr id="13" name="Rectangle 12"/>
          <p:cNvSpPr/>
          <p:nvPr/>
        </p:nvSpPr>
        <p:spPr>
          <a:xfrm>
            <a:off x="548640" y="3575304"/>
            <a:ext cx="777240" cy="5486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66744"/>
            <a:ext cx="777240" cy="365760"/>
          </a:xfrm>
          <a:prstGeom prst="rect">
            <a:avLst/>
          </a:prstGeom>
          <a:noFill/>
        </p:spPr>
        <p:txBody>
          <a:bodyPr wrap="square">
            <a:spAutoFit/>
          </a:bodyPr>
          <a:lstStyle/>
          <a:p>
            <a:pPr algn="ctr"/>
            <a:r>
              <a:rPr sz="1100" b="1" i="0">
                <a:solidFill>
                  <a:srgbClr val="0D111A"/>
                </a:solidFill>
              </a:rPr>
              <a:t>v2 Backend</a:t>
            </a:r>
          </a:p>
        </p:txBody>
      </p:sp>
      <p:sp>
        <p:nvSpPr>
          <p:cNvPr id="15" name="TextBox 14"/>
          <p:cNvSpPr txBox="1"/>
          <p:nvPr/>
        </p:nvSpPr>
        <p:spPr>
          <a:xfrm>
            <a:off x="1508760" y="3648456"/>
            <a:ext cx="10058400" cy="658368"/>
          </a:xfrm>
          <a:prstGeom prst="rect">
            <a:avLst/>
          </a:prstGeom>
          <a:noFill/>
        </p:spPr>
        <p:txBody>
          <a:bodyPr wrap="square">
            <a:spAutoFit/>
          </a:bodyPr>
          <a:lstStyle/>
          <a:p>
            <a:pPr algn="l"/>
            <a:r>
              <a:rPr sz="1200" b="0" i="0">
                <a:solidFill>
                  <a:srgbClr val="94A3B8"/>
                </a:solidFill>
              </a:rPr>
              <a:t>FastAPI deployed on HuggingFace Spaces · 13 investigation tools run server-side in parallel · RoBERTa model on dedicated HF Space</a:t>
            </a:r>
          </a:p>
        </p:txBody>
      </p:sp>
      <p:sp>
        <p:nvSpPr>
          <p:cNvPr id="16" name="Rectangle 15"/>
          <p:cNvSpPr/>
          <p:nvPr/>
        </p:nvSpPr>
        <p:spPr>
          <a:xfrm>
            <a:off x="548640" y="4471416"/>
            <a:ext cx="777240" cy="5486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562856"/>
            <a:ext cx="777240" cy="365760"/>
          </a:xfrm>
          <a:prstGeom prst="rect">
            <a:avLst/>
          </a:prstGeom>
          <a:noFill/>
        </p:spPr>
        <p:txBody>
          <a:bodyPr wrap="square">
            <a:spAutoFit/>
          </a:bodyPr>
          <a:lstStyle/>
          <a:p>
            <a:pPr algn="ctr"/>
            <a:r>
              <a:rPr sz="1100" b="1" i="0">
                <a:solidFill>
                  <a:srgbClr val="0D111A"/>
                </a:solidFill>
              </a:rPr>
              <a:t>Verdict</a:t>
            </a:r>
          </a:p>
        </p:txBody>
      </p:sp>
      <p:sp>
        <p:nvSpPr>
          <p:cNvPr id="18" name="TextBox 17"/>
          <p:cNvSpPr txBox="1"/>
          <p:nvPr/>
        </p:nvSpPr>
        <p:spPr>
          <a:xfrm>
            <a:off x="1508760" y="4544568"/>
            <a:ext cx="10058400" cy="658368"/>
          </a:xfrm>
          <a:prstGeom prst="rect">
            <a:avLst/>
          </a:prstGeom>
          <a:noFill/>
        </p:spPr>
        <p:txBody>
          <a:bodyPr wrap="square">
            <a:spAutoFit/>
          </a:bodyPr>
          <a:lstStyle/>
          <a:p>
            <a:pPr algn="l"/>
            <a:r>
              <a:rPr sz="1200" b="0" i="0">
                <a:solidFill>
                  <a:srgbClr val="94A3B8"/>
                </a:solidFill>
              </a:rPr>
              <a:t>LLM now reads structured output from all 13 tools and writes a report · Weighted heuristic fallback if LLM unavailable · Score: ≥55=FAKE · ≥30=SUSPICIOUS · &lt;30=SAFE</a:t>
            </a:r>
          </a:p>
        </p:txBody>
      </p:sp>
      <p:sp>
        <p:nvSpPr>
          <p:cNvPr id="19" name="Rectangle 18"/>
          <p:cNvSpPr/>
          <p:nvPr/>
        </p:nvSpPr>
        <p:spPr>
          <a:xfrm>
            <a:off x="548640" y="5367528"/>
            <a:ext cx="777240" cy="54864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458968"/>
            <a:ext cx="777240" cy="365760"/>
          </a:xfrm>
          <a:prstGeom prst="rect">
            <a:avLst/>
          </a:prstGeom>
          <a:noFill/>
        </p:spPr>
        <p:txBody>
          <a:bodyPr wrap="square">
            <a:spAutoFit/>
          </a:bodyPr>
          <a:lstStyle/>
          <a:p>
            <a:pPr algn="ctr"/>
            <a:r>
              <a:rPr sz="1100" b="1" i="0">
                <a:solidFill>
                  <a:srgbClr val="0D111A"/>
                </a:solidFill>
              </a:rPr>
              <a:t>Key Win</a:t>
            </a:r>
          </a:p>
        </p:txBody>
      </p:sp>
      <p:sp>
        <p:nvSpPr>
          <p:cNvPr id="21" name="TextBox 20"/>
          <p:cNvSpPr txBox="1"/>
          <p:nvPr/>
        </p:nvSpPr>
        <p:spPr>
          <a:xfrm>
            <a:off x="1508760" y="5440680"/>
            <a:ext cx="10058400" cy="658368"/>
          </a:xfrm>
          <a:prstGeom prst="rect">
            <a:avLst/>
          </a:prstGeom>
          <a:noFill/>
        </p:spPr>
        <p:txBody>
          <a:bodyPr wrap="square">
            <a:spAutoFit/>
          </a:bodyPr>
          <a:lstStyle/>
          <a:p>
            <a:pPr algn="l"/>
            <a:r>
              <a:rPr sz="1200" b="0" i="0">
                <a:solidFill>
                  <a:srgbClr val="94A3B8"/>
                </a:solidFill>
              </a:rPr>
              <a:t>Every verdict is backed by real data — not just what the scammer wrote · 13 independent signals make the system far harder to fool</a:t>
            </a:r>
          </a:p>
        </p:txBody>
      </p:sp>
      <p:sp>
        <p:nvSpPr>
          <p:cNvPr id="22" name="Rectangle 21"/>
          <p:cNvSpPr/>
          <p:nvPr/>
        </p:nvSpPr>
        <p:spPr>
          <a:xfrm>
            <a:off x="0" y="6537960"/>
            <a:ext cx="12188952" cy="320040"/>
          </a:xfrm>
          <a:prstGeom prst="rect">
            <a:avLst/>
          </a:prstGeom>
          <a:solidFill>
            <a:srgbClr val="131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56248"/>
            <a:ext cx="11612880" cy="274320"/>
          </a:xfrm>
          <a:prstGeom prst="rect">
            <a:avLst/>
          </a:prstGeom>
          <a:noFill/>
        </p:spPr>
        <p:txBody>
          <a:bodyPr wrap="square">
            <a:spAutoFit/>
          </a:bodyPr>
          <a:lstStyle/>
          <a:p>
            <a:pPr algn="ctr"/>
            <a:r>
              <a:rPr sz="1200" b="0" i="0">
                <a:solidFill>
                  <a:srgbClr val="94A3B8"/>
                </a:solidFill>
              </a:rPr>
              <a:t>Group 9  ·  DS &amp; AI Lab Project  ·  FraudGuard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